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ov" ContentType="video/quicktime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media/image10.jpg" ContentType="image/jpe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68" r:id="rId2"/>
    <p:sldId id="357" r:id="rId3"/>
    <p:sldId id="360" r:id="rId4"/>
    <p:sldId id="361" r:id="rId5"/>
    <p:sldId id="362" r:id="rId6"/>
    <p:sldId id="370" r:id="rId7"/>
    <p:sldId id="358" r:id="rId8"/>
    <p:sldId id="359" r:id="rId9"/>
    <p:sldId id="363" r:id="rId10"/>
    <p:sldId id="364" r:id="rId11"/>
    <p:sldId id="365" r:id="rId12"/>
    <p:sldId id="366" r:id="rId13"/>
    <p:sldId id="368" r:id="rId14"/>
    <p:sldId id="3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F5FB"/>
    <a:srgbClr val="DAF2D0"/>
    <a:srgbClr val="FBE4D7"/>
    <a:srgbClr val="E1EFFB"/>
    <a:srgbClr val="646464"/>
    <a:srgbClr val="DDEAF8"/>
    <a:srgbClr val="E1E9F0"/>
    <a:srgbClr val="F5F5F5"/>
    <a:srgbClr val="43C94F"/>
    <a:srgbClr val="D077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45"/>
    <p:restoredTop sz="81507"/>
  </p:normalViewPr>
  <p:slideViewPr>
    <p:cSldViewPr snapToGrid="0">
      <p:cViewPr varScale="1">
        <p:scale>
          <a:sx n="102" d="100"/>
          <a:sy n="102" d="100"/>
        </p:scale>
        <p:origin x="18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D2A8AF-0A22-874B-9BDE-55EF8F1ED7A1}" type="datetimeFigureOut">
              <a:rPr lang="en-US" smtClean="0"/>
              <a:t>9/13/26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7398C3-B8E0-3F4C-82FF-6B8039AE7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298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Graphic courtesy of the Siena Artificial Intelligence Lab (</a:t>
            </a:r>
            <a:r>
              <a:rPr lang="en-US" dirty="0" err="1"/>
              <a:t>SAILab</a:t>
            </a:r>
            <a:r>
              <a:rPr lang="en-US" dirty="0"/>
              <a:t>)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42B64-0549-2A60-5E64-B80A63BBA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1CCB1B-750E-67DA-D4CB-0AD42527C4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452639-56A3-B10A-43A6-DA6248EBE9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7FA52-7AA4-3E26-3EAD-FF9D3A0E5F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7398C3-B8E0-3F4C-82FF-6B8039AE7CF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2237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BE056-533F-B2D7-CCCF-D2DAE54E5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4A15D7-D5BA-9403-8E34-57B7386096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E38E52-BE3C-066E-B091-E62EC9C991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17750-587F-DEDE-797B-7302EA8352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7398C3-B8E0-3F4C-82FF-6B8039AE7CF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6756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68EC0-CBEC-F7FF-8D16-D09D9B640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66292A-BD6C-5AC0-DD80-57171DF862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A98BB7-6A6D-57C6-95DD-805E396F0C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099E3-7960-0915-285C-CE76276B58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7398C3-B8E0-3F4C-82FF-6B8039AE7CF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6631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B844D-8552-CF9C-F495-400D311F1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759C85-A52B-ABE5-9242-DBD0DC2D4F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788338-58A1-5DBB-C78F-67247E6673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AD44ED-C1C0-D7B0-9AF6-336AB2328D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7398C3-B8E0-3F4C-82FF-6B8039AE7CF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7750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F06D3-D1B8-BFE4-A1B7-97BD2F6F6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4F1C39-BF24-0828-B2ED-65B732CDAE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EDC486-CA15-F166-ED5F-3CD4CD45A6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05E754-CD95-6A8A-E603-A1B32AF336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7398C3-B8E0-3F4C-82FF-6B8039AE7CF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9851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2C3DE-95D3-3D3D-32AE-616126227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4795E5-BC26-9014-9CCC-43D4ADE994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A29986-BDD3-0DD7-EE7E-DF778ACFEC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1C38D-C8C6-9352-4D6B-6FB83D8883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7398C3-B8E0-3F4C-82FF-6B8039AE7CF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2770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78521-F46D-17F9-D48C-4FC3753EC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FFFD26-4988-090F-F8CD-F5B1EA79A6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BF1C1F-6CF2-5F9A-0A07-925B9F2F8C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Need to note:</a:t>
            </a: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1200" dirty="0">
                <a:latin typeface="Avenir Book" panose="02000503020000020003" pitchFamily="2" charset="0"/>
                <a:cs typeface="Arial" panose="020B0604020202020204" pitchFamily="34" charset="0"/>
              </a:rPr>
              <a:t>Taken as a dynamical system, disease spread is incredibly complex:</a:t>
            </a: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endParaRPr lang="en-US" sz="1200" dirty="0">
              <a:latin typeface="Avenir Book" panose="02000503020000020003" pitchFamily="2" charset="0"/>
              <a:cs typeface="Arial" panose="020B0604020202020204" pitchFamily="34" charset="0"/>
            </a:endParaRPr>
          </a:p>
          <a:p>
            <a:pPr marL="298450" indent="-285750">
              <a:lnSpc>
                <a:spcPct val="100000"/>
              </a:lnSpc>
              <a:spcBef>
                <a:spcPts val="125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Avenir Book" panose="02000503020000020003" pitchFamily="2" charset="0"/>
                <a:cs typeface="Arial" panose="020B0604020202020204" pitchFamily="34" charset="0"/>
              </a:rPr>
              <a:t>Spatiotemporal dependence</a:t>
            </a:r>
          </a:p>
          <a:p>
            <a:pPr marL="298450" indent="-285750">
              <a:lnSpc>
                <a:spcPct val="100000"/>
              </a:lnSpc>
              <a:spcBef>
                <a:spcPts val="125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Avenir Book" panose="02000503020000020003" pitchFamily="2" charset="0"/>
                <a:cs typeface="Arial" panose="020B0604020202020204" pitchFamily="34" charset="0"/>
              </a:rPr>
              <a:t>Large state vector</a:t>
            </a:r>
          </a:p>
          <a:p>
            <a:pPr marL="298450" indent="-285750">
              <a:lnSpc>
                <a:spcPct val="100000"/>
              </a:lnSpc>
              <a:spcBef>
                <a:spcPts val="125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Avenir Book" panose="02000503020000020003" pitchFamily="2" charset="0"/>
                <a:cs typeface="Arial" panose="020B0604020202020204" pitchFamily="34" charset="0"/>
              </a:rPr>
              <a:t>Wide spectrum of time scales</a:t>
            </a:r>
          </a:p>
          <a:p>
            <a:pPr marL="298450" indent="-285750">
              <a:lnSpc>
                <a:spcPct val="100000"/>
              </a:lnSpc>
              <a:spcBef>
                <a:spcPts val="125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Avenir Book" panose="02000503020000020003" pitchFamily="2" charset="0"/>
                <a:cs typeface="Arial" panose="020B0604020202020204" pitchFamily="34" charset="0"/>
              </a:rPr>
              <a:t>Stochastic</a:t>
            </a:r>
          </a:p>
          <a:p>
            <a:pPr marL="298450" indent="-285750">
              <a:lnSpc>
                <a:spcPct val="100000"/>
              </a:lnSpc>
              <a:spcBef>
                <a:spcPts val="125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Avenir Book" panose="02000503020000020003" pitchFamily="2" charset="0"/>
                <a:cs typeface="Arial" panose="020B0604020202020204" pitchFamily="34" charset="0"/>
              </a:rPr>
              <a:t>Chaotic in the epidemic regime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05CCDC-A699-FD4C-61CD-48DF6C5932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7398C3-B8E0-3F4C-82FF-6B8039AE7CF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5707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8CE33-71C5-699A-FFAF-B7A089101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DE2349-8F38-7F62-66F9-8ABEE601CD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62CA07-A5DA-65ED-1406-0A1C2D99E9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Need to note:</a:t>
            </a:r>
          </a:p>
          <a:p>
            <a:pPr marL="0" indent="0">
              <a:buNone/>
            </a:pPr>
            <a:r>
              <a:rPr lang="en-US" dirty="0"/>
              <a:t>From a dynamical system’s perspective, This system is incredibly complex.</a:t>
            </a:r>
          </a:p>
          <a:p>
            <a:pPr marL="0" indent="0">
              <a:buNone/>
            </a:pPr>
            <a:r>
              <a:rPr lang="en-US" dirty="0"/>
              <a:t>Evolves nonlinearly over a large space and time dimension</a:t>
            </a:r>
          </a:p>
          <a:p>
            <a:pPr marL="0" indent="0">
              <a:buNone/>
            </a:pPr>
            <a:r>
              <a:rPr lang="en-US" dirty="0"/>
              <a:t>Wide variety of time scales</a:t>
            </a:r>
          </a:p>
          <a:p>
            <a:pPr marL="0" indent="0">
              <a:buNone/>
            </a:pPr>
            <a:r>
              <a:rPr lang="en-US" dirty="0"/>
              <a:t>Each node (state/county) stratified by age group – very large state vector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D6AAF2-2F0C-51C6-6AAA-E684686095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7398C3-B8E0-3F4C-82FF-6B8039AE7CF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4567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144D9-4B2E-CBFE-C52D-E8EE952DE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706AA1-ABE7-208A-F7AA-682E548AB2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B86D9B-B32F-16D9-EE71-F9EFC2C4C5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areas with many nodes, this state vector can get quite large!!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53AE06-BCB2-F1E6-FE7B-0E2C98154A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7398C3-B8E0-3F4C-82FF-6B8039AE7CF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2781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48D20-D32C-ED4D-DA6B-24D74CA2D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2C20D2-978F-4354-E4FD-AF98E8152C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BB0F14-6B62-A1A8-BA64-E692780F4C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areas with many nodes, this state vector can get quite large!!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CA5545-8454-A053-EBCC-452AFB79F4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7398C3-B8E0-3F4C-82FF-6B8039AE7CF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9779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A2709-8FFE-C49A-7630-3993EAE1C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37FA9B-EDF9-E0D6-DAE4-446E9A32F5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54CD2A-EBCC-22C7-F23C-1286A60FA3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areas with many nodes, this state vector can get quite large!!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B63BCB-E37D-CDD6-7C2A-EA786F191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7398C3-B8E0-3F4C-82FF-6B8039AE7CF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5596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83EF8-B9B8-1222-31F9-7538A20A8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B65C31-505E-45A9-4EE1-F906F80355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029D26-9323-05B6-5B4D-C9FBB86737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areas with many nodes, this state vector can get quite large!!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67CAD-91AC-BA94-5D3C-5506CF85C5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7398C3-B8E0-3F4C-82FF-6B8039AE7CF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9573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AE00B-B23A-6E4E-E95E-030BBE9D5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904E14-83EE-3F2F-B754-E7609B91E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8C9AF8-876F-1557-A69C-2994E2E458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If simulation data works, then measured data should work with the architecture.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DDC83-062D-0BC3-C85D-6C10238B84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7398C3-B8E0-3F4C-82FF-6B8039AE7CF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330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AFC22-5E4F-34E3-12F3-61A65681B1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ED30F8-48CB-6056-9B6C-3F833E9B1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B61342-D42F-6D85-B12E-FE96C01D8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60CF9-F8F5-F946-9418-9B59C2E946C6}" type="datetime1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73BE3-1CEE-168E-BE96-69FC36D8B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930F1-8B0F-367F-2298-D0A892433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78B8C-3A5C-324B-A3F5-C0AF7DCE0B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540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D38B8-A644-940A-5742-051845856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769B0-C8C9-97FB-9DD3-133E1E090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2F853-C8AE-FACF-04E2-C775655F3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C3D8F-7174-DA46-BE22-7DAE2E50A799}" type="datetime1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DA8BA-C37B-4C69-2420-7BB4CDD90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0584C-37CE-77B0-9A4F-69F08AFE1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78B8C-3A5C-324B-A3F5-C0AF7DCE0B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798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1276F-8360-2AA3-4271-91FE76226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B08F13-9CE0-4AF2-9F52-B072E33422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A25BB-9291-50AC-DFB4-382A371D5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977C0-379B-E544-87B0-B1BB48B00692}" type="datetime1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82E58-2F90-6B86-8EC9-0A4876147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3546C-7255-24FF-51FE-E1A59CF9D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78B8C-3A5C-324B-A3F5-C0AF7DCE0B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755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5C9B8-6B0D-D89C-6E84-1604EDCD4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9F4AD-F3D2-1BDB-8AAF-3E427F9C04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2455F6-F305-DEE9-3B09-0537875E6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30F0DA-BE87-CB9D-B09D-AF0A3A18D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D9776-FB47-D748-AFCE-F13535656E6B}" type="datetime1">
              <a:rPr lang="en-US" smtClean="0"/>
              <a:t>9/13/26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57BF01-B77F-FC1E-E633-01D40882E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796FB-8C63-603E-11F1-6B0A603E4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78B8C-3A5C-324B-A3F5-C0AF7DCE0B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671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8BC36-F098-BD49-D002-724E66E88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E154E-9BD7-F02F-C4C8-D35A1B3DE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FB7FBA-93B6-1FBC-4758-CBF351DA9C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E259E9-6F95-49AE-2C62-8DDF0BB090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94CD9D-413B-04EA-6C3F-C63EE43EEE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BD82F2-841B-DE54-8BE5-73CE0FFBA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1733A-F079-B248-87DB-8E2D25D145FC}" type="datetime1">
              <a:rPr lang="en-US" smtClean="0"/>
              <a:t>9/13/26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D36957-0973-3AED-C756-3CBF3DC8B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0DE937-44B8-18E6-BA28-9CF87CFE2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78B8C-3A5C-324B-A3F5-C0AF7DCE0B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433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6D080-03F9-41EC-71AD-D1D302684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EEEDF4-94ED-DD27-6B8A-C574A3347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597BF-0CB8-2448-A7A4-1DD393E0F630}" type="datetime1">
              <a:rPr lang="en-US" smtClean="0"/>
              <a:t>9/13/26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8961F1-F308-1F31-5FFE-55F22852C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FB7684-6A1B-0D18-A2CF-F1BC33A55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78B8C-3A5C-324B-A3F5-C0AF7DCE0B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460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308BFC-7121-78CA-9A95-96811AEE0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FD2DD-0515-154F-A937-A3233E2E5726}" type="datetime1">
              <a:rPr lang="en-US" smtClean="0"/>
              <a:t>9/13/26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523871-6C07-AA54-A526-8E4BAF7C2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A1806C-8DDE-8DAD-6219-A7406515F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78B8C-3A5C-324B-A3F5-C0AF7DCE0B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97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9304F-7F60-9BCE-9A99-B14B44CBF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C2247-A4FA-8284-B894-33DDE65C4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FE3E95-C1C0-829D-2ADC-4C32E7125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BE734F-F04D-ECD7-949D-B41D02DC4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C4B2F-0B41-B54D-AB11-E4AB39A78B8C}" type="datetime1">
              <a:rPr lang="en-US" smtClean="0"/>
              <a:t>9/13/26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9E120C-E3D1-0F49-FC09-14BAE6A09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4FE10F-2071-CC26-23DF-288B67007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78B8C-3A5C-324B-A3F5-C0AF7DCE0B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712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FE43A-3A8D-249A-B248-203BB2A50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5C2338-D848-6DC7-A510-F221D0ACF7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0DE0BA-4516-1DB0-D04A-DB87CCF54C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A50F2F-FC1F-CD3D-0B24-CA95CDBA7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06166-740C-C743-AA48-65BF89D970B4}" type="datetime1">
              <a:rPr lang="en-US" smtClean="0"/>
              <a:t>9/13/26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445DFE-BA48-326C-9ED5-81619F720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B24EFC-9413-660B-5219-03E456DEE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78B8C-3A5C-324B-A3F5-C0AF7DCE0B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791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0874B-5593-2858-E726-5DFE6E3CE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3B027A-DDCD-9B06-FC5F-CF04B0AC89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90F38-BB80-6584-1A74-701F7F27C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DD864-CFEA-BA43-9685-E9922D2F2E48}" type="datetime1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36EBD-6ABC-9C7B-A0C6-1D8DBEEF8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B6C46-F3C5-2ACB-3314-39D020DBC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78B8C-3A5C-324B-A3F5-C0AF7DCE0B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09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0A93EC-07AA-D167-743D-697EB0EECC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03C3F6-34AA-817B-E18C-B5119C8FFB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90F33B-AA32-D2EA-561F-A3884181B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1676-4862-9C42-AF99-E755FB77DB31}" type="datetime1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67E84-AD10-9764-80D4-D1FAF88AD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D70777-46B4-6808-3740-E6AE3AE84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78B8C-3A5C-324B-A3F5-C0AF7DCE0B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836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8FA1D1-934C-AE2A-32CA-29FA29BC3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2C934B-A6B4-002A-224C-8610427FC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E0090-FC72-46AB-9C8B-42B8F0D553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344AC8-8558-B94B-A4FA-01BFC3560410}" type="datetime1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B2DDB-01C3-0E55-0F94-B306F9B6E6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45E87-B284-80F0-2ECC-C721CCA4E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A78B8C-3A5C-324B-A3F5-C0AF7DCE0B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459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gif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gif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6" Type="http://schemas.openxmlformats.org/officeDocument/2006/relationships/image" Target="../media/image3.jpg"/><Relationship Id="rId11" Type="http://schemas.openxmlformats.org/officeDocument/2006/relationships/image" Target="../media/image8.png"/><Relationship Id="rId5" Type="http://schemas.openxmlformats.org/officeDocument/2006/relationships/image" Target="../media/image2.jpg"/><Relationship Id="rId10" Type="http://schemas.openxmlformats.org/officeDocument/2006/relationships/image" Target="../media/image7.jpg"/><Relationship Id="rId4" Type="http://schemas.openxmlformats.org/officeDocument/2006/relationships/notesSlide" Target="../notesSlides/notesSlide4.xml"/><Relationship Id="rId9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gif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6" Type="http://schemas.openxmlformats.org/officeDocument/2006/relationships/image" Target="../media/image3.jpg"/><Relationship Id="rId11" Type="http://schemas.openxmlformats.org/officeDocument/2006/relationships/image" Target="../media/image8.png"/><Relationship Id="rId5" Type="http://schemas.openxmlformats.org/officeDocument/2006/relationships/image" Target="../media/image2.jpg"/><Relationship Id="rId10" Type="http://schemas.openxmlformats.org/officeDocument/2006/relationships/image" Target="../media/image7.jpg"/><Relationship Id="rId4" Type="http://schemas.openxmlformats.org/officeDocument/2006/relationships/notesSlide" Target="../notesSlides/notesSlide5.xml"/><Relationship Id="rId9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8.png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10" Type="http://schemas.openxmlformats.org/officeDocument/2006/relationships/image" Target="../media/image5.gif"/><Relationship Id="rId4" Type="http://schemas.openxmlformats.org/officeDocument/2006/relationships/notesSlide" Target="../notesSlides/notesSlide6.xml"/><Relationship Id="rId9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2.jpe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2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3.png"/><Relationship Id="rId9" Type="http://schemas.openxmlformats.org/officeDocument/2006/relationships/image" Target="../media/image20.png"/><Relationship Id="rId1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2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8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Overview of the Graph Neural Network model - GNN — gnn 1.2.0 documentation">
            <a:extLst>
              <a:ext uri="{FF2B5EF4-FFF2-40B4-BE49-F238E27FC236}">
                <a16:creationId xmlns:a16="http://schemas.microsoft.com/office/drawing/2014/main" id="{089B525F-EFB9-918F-C566-9250A3917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6400" y="1572885"/>
            <a:ext cx="7411584" cy="3705792"/>
          </a:xfrm>
          <a:prstGeom prst="rect">
            <a:avLst/>
          </a:prstGeom>
        </p:spPr>
      </p:pic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415600" y="721074"/>
            <a:ext cx="11360800" cy="105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 fontScale="9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4000" dirty="0">
                <a:solidFill>
                  <a:srgbClr val="000000"/>
                </a:solidFill>
                <a:latin typeface="Avenir Book" panose="02000503020000020003" pitchFamily="2" charset="0"/>
              </a:rPr>
              <a:t>Can AI Learn Dynamics?</a:t>
            </a:r>
            <a:br>
              <a:rPr lang="en-US" sz="4000" dirty="0">
                <a:solidFill>
                  <a:srgbClr val="000000"/>
                </a:solidFill>
                <a:latin typeface="Avenir Book" panose="02000503020000020003" pitchFamily="2" charset="0"/>
              </a:rPr>
            </a:br>
            <a:r>
              <a:rPr lang="en-US" sz="2700" dirty="0">
                <a:solidFill>
                  <a:srgbClr val="000000"/>
                </a:solidFill>
                <a:latin typeface="Avenir Book" panose="02000503020000020003" pitchFamily="2" charset="0"/>
              </a:rPr>
              <a:t>Surrogate Modeling on TACC Systems</a:t>
            </a:r>
            <a:endParaRPr sz="2700" dirty="0">
              <a:latin typeface="Avenir Book" panose="02000503020000020003" pitchFamily="2" charset="0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528333" y="5114798"/>
            <a:ext cx="11360800" cy="1580444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" sz="1800" dirty="0">
                <a:solidFill>
                  <a:srgbClr val="646464"/>
                </a:solidFill>
                <a:latin typeface="Avenir Book" panose="02000503020000020003" pitchFamily="2" charset="0"/>
              </a:rPr>
              <a:t>Luke Smith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" sz="1800" dirty="0">
                <a:solidFill>
                  <a:srgbClr val="646464"/>
                </a:solidFill>
                <a:latin typeface="Avenir Book" panose="02000503020000020003" pitchFamily="2" charset="0"/>
              </a:rPr>
              <a:t>Research Associate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" sz="1800" dirty="0">
                <a:solidFill>
                  <a:srgbClr val="646464"/>
                </a:solidFill>
                <a:latin typeface="Avenir Book" panose="02000503020000020003" pitchFamily="2" charset="0"/>
              </a:rPr>
              <a:t>Texas Advanced Computing Center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" sz="1800" dirty="0">
                <a:solidFill>
                  <a:srgbClr val="646464"/>
                </a:solidFill>
                <a:latin typeface="Avenir Book" panose="02000503020000020003" pitchFamily="2" charset="0"/>
              </a:rPr>
              <a:t>September 21, 2026</a:t>
            </a:r>
            <a:endParaRPr sz="1800" dirty="0">
              <a:solidFill>
                <a:srgbClr val="646464"/>
              </a:solidFill>
              <a:latin typeface="Avenir Book" panose="02000503020000020003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97991-B655-4BA1-711A-91C0BFED2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CC75B2C-F043-83FD-EB5A-6DBC094C35FE}"/>
              </a:ext>
            </a:extLst>
          </p:cNvPr>
          <p:cNvCxnSpPr/>
          <p:nvPr/>
        </p:nvCxnSpPr>
        <p:spPr>
          <a:xfrm>
            <a:off x="914400" y="1071563"/>
            <a:ext cx="10086975" cy="0"/>
          </a:xfrm>
          <a:prstGeom prst="line">
            <a:avLst/>
          </a:prstGeom>
          <a:ln w="22225">
            <a:solidFill>
              <a:srgbClr val="7F9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AD89679-21FE-914B-F5DF-54E2BC40D08B}"/>
              </a:ext>
            </a:extLst>
          </p:cNvPr>
          <p:cNvSpPr txBox="1"/>
          <p:nvPr/>
        </p:nvSpPr>
        <p:spPr>
          <a:xfrm>
            <a:off x="914399" y="494912"/>
            <a:ext cx="93297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venir Light" panose="020B0402020203020204" pitchFamily="34" charset="77"/>
              </a:rPr>
              <a:t>What does surrogate modeling look like on TACC systems?</a:t>
            </a:r>
          </a:p>
        </p:txBody>
      </p:sp>
      <p:sp>
        <p:nvSpPr>
          <p:cNvPr id="1032" name="Slide Number Placeholder 1031">
            <a:extLst>
              <a:ext uri="{FF2B5EF4-FFF2-40B4-BE49-F238E27FC236}">
                <a16:creationId xmlns:a16="http://schemas.microsoft.com/office/drawing/2014/main" id="{26804EF0-DF87-A3B4-7BEC-EF174E1CD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78B8C-3A5C-324B-A3F5-C0AF7DCE0B23}" type="slidenum">
              <a:rPr lang="en-US" smtClean="0"/>
              <a:t>2</a:t>
            </a:fld>
            <a:endParaRPr lang="en-US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EF2E579-7E1F-1806-62AD-C841FAA85DD5}"/>
              </a:ext>
            </a:extLst>
          </p:cNvPr>
          <p:cNvSpPr txBox="1"/>
          <p:nvPr/>
        </p:nvSpPr>
        <p:spPr>
          <a:xfrm>
            <a:off x="1645694" y="1505189"/>
            <a:ext cx="2503906" cy="26225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latin typeface="Avenir Book" panose="02000503020000020003" pitchFamily="2" charset="0"/>
                <a:cs typeface="Arial" panose="020B0604020202020204" pitchFamily="34" charset="0"/>
              </a:rPr>
              <a:t>Initial</a:t>
            </a:r>
            <a:r>
              <a:rPr sz="1600" spc="75" dirty="0">
                <a:latin typeface="Avenir Book" panose="02000503020000020003" pitchFamily="2" charset="0"/>
                <a:cs typeface="Arial" panose="020B0604020202020204" pitchFamily="34" charset="0"/>
              </a:rPr>
              <a:t> </a:t>
            </a:r>
            <a:r>
              <a:rPr sz="1600" spc="-10" dirty="0">
                <a:latin typeface="Avenir Book" panose="02000503020000020003" pitchFamily="2" charset="0"/>
                <a:cs typeface="Arial" panose="020B0604020202020204" pitchFamily="34" charset="0"/>
              </a:rPr>
              <a:t>Conditions</a:t>
            </a:r>
            <a:endParaRPr sz="16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5821DD2-B256-B16B-E92E-8C5A516C5F9D}"/>
              </a:ext>
            </a:extLst>
          </p:cNvPr>
          <p:cNvSpPr txBox="1"/>
          <p:nvPr/>
        </p:nvSpPr>
        <p:spPr>
          <a:xfrm>
            <a:off x="4623878" y="1520291"/>
            <a:ext cx="3019706" cy="26225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latin typeface="Avenir Book" panose="02000503020000020003" pitchFamily="2" charset="0"/>
                <a:cs typeface="Arial" panose="020B0604020202020204" pitchFamily="34" charset="0"/>
              </a:rPr>
              <a:t>Solve</a:t>
            </a:r>
            <a:r>
              <a:rPr sz="1600" spc="114" dirty="0">
                <a:latin typeface="Avenir Book" panose="02000503020000020003" pitchFamily="2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venir Book" panose="02000503020000020003" pitchFamily="2" charset="0"/>
                <a:cs typeface="Arial" panose="020B0604020202020204" pitchFamily="34" charset="0"/>
              </a:rPr>
              <a:t>the</a:t>
            </a:r>
            <a:r>
              <a:rPr sz="1600" spc="114" dirty="0">
                <a:latin typeface="Avenir Book" panose="02000503020000020003" pitchFamily="2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venir Book" panose="02000503020000020003" pitchFamily="2" charset="0"/>
                <a:cs typeface="Arial" panose="020B0604020202020204" pitchFamily="34" charset="0"/>
              </a:rPr>
              <a:t>Governing</a:t>
            </a:r>
            <a:r>
              <a:rPr sz="1600" spc="80" dirty="0">
                <a:latin typeface="Avenir Book" panose="02000503020000020003" pitchFamily="2" charset="0"/>
                <a:cs typeface="Arial" panose="020B0604020202020204" pitchFamily="34" charset="0"/>
              </a:rPr>
              <a:t> </a:t>
            </a:r>
            <a:r>
              <a:rPr sz="1600" spc="-10" dirty="0">
                <a:latin typeface="Avenir Book" panose="02000503020000020003" pitchFamily="2" charset="0"/>
                <a:cs typeface="Arial" panose="020B0604020202020204" pitchFamily="34" charset="0"/>
              </a:rPr>
              <a:t>Equations</a:t>
            </a:r>
            <a:endParaRPr sz="16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35F08FA8-7B2A-B673-B196-98A274BED542}"/>
              </a:ext>
            </a:extLst>
          </p:cNvPr>
          <p:cNvSpPr txBox="1"/>
          <p:nvPr/>
        </p:nvSpPr>
        <p:spPr>
          <a:xfrm>
            <a:off x="9415841" y="1488495"/>
            <a:ext cx="932244" cy="26225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00" spc="-10" dirty="0">
                <a:latin typeface="Avenir Book" panose="02000503020000020003" pitchFamily="2" charset="0"/>
                <a:cs typeface="Arial" panose="020B0604020202020204" pitchFamily="34" charset="0"/>
              </a:rPr>
              <a:t>Output</a:t>
            </a:r>
            <a:endParaRPr sz="16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pic>
        <p:nvPicPr>
          <p:cNvPr id="10" name="object 7">
            <a:extLst>
              <a:ext uri="{FF2B5EF4-FFF2-40B4-BE49-F238E27FC236}">
                <a16:creationId xmlns:a16="http://schemas.microsoft.com/office/drawing/2014/main" id="{7A5E4BF3-CEF3-BD3D-9EF5-BD275ACC516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46229" y="1857375"/>
            <a:ext cx="1247775" cy="1228725"/>
          </a:xfrm>
          <a:prstGeom prst="rect">
            <a:avLst/>
          </a:prstGeom>
        </p:spPr>
      </p:pic>
      <p:pic>
        <p:nvPicPr>
          <p:cNvPr id="11" name="object 8">
            <a:extLst>
              <a:ext uri="{FF2B5EF4-FFF2-40B4-BE49-F238E27FC236}">
                <a16:creationId xmlns:a16="http://schemas.microsoft.com/office/drawing/2014/main" id="{C4830F2E-B6FC-D083-6F12-F7179FE49FD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98629" y="2009775"/>
            <a:ext cx="1247775" cy="1228725"/>
          </a:xfrm>
          <a:prstGeom prst="rect">
            <a:avLst/>
          </a:prstGeom>
        </p:spPr>
      </p:pic>
      <p:sp>
        <p:nvSpPr>
          <p:cNvPr id="12" name="object 9">
            <a:extLst>
              <a:ext uri="{FF2B5EF4-FFF2-40B4-BE49-F238E27FC236}">
                <a16:creationId xmlns:a16="http://schemas.microsoft.com/office/drawing/2014/main" id="{1957CB4B-095E-1DA3-B08C-A36DA9AFA781}"/>
              </a:ext>
            </a:extLst>
          </p:cNvPr>
          <p:cNvSpPr/>
          <p:nvPr/>
        </p:nvSpPr>
        <p:spPr>
          <a:xfrm>
            <a:off x="1893930" y="2004948"/>
            <a:ext cx="1257300" cy="1238250"/>
          </a:xfrm>
          <a:custGeom>
            <a:avLst/>
            <a:gdLst/>
            <a:ahLst/>
            <a:cxnLst/>
            <a:rect l="l" t="t" r="r" b="b"/>
            <a:pathLst>
              <a:path w="1257300" h="1238250">
                <a:moveTo>
                  <a:pt x="0" y="1238250"/>
                </a:moveTo>
                <a:lnTo>
                  <a:pt x="1257300" y="1238250"/>
                </a:lnTo>
                <a:lnTo>
                  <a:pt x="1257300" y="0"/>
                </a:lnTo>
                <a:lnTo>
                  <a:pt x="0" y="0"/>
                </a:lnTo>
                <a:lnTo>
                  <a:pt x="0" y="123825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0">
            <a:extLst>
              <a:ext uri="{FF2B5EF4-FFF2-40B4-BE49-F238E27FC236}">
                <a16:creationId xmlns:a16="http://schemas.microsoft.com/office/drawing/2014/main" id="{E8325B39-31DD-086C-E927-FBAC3C55F76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51029" y="2162175"/>
            <a:ext cx="1247775" cy="1228725"/>
          </a:xfrm>
          <a:prstGeom prst="rect">
            <a:avLst/>
          </a:prstGeom>
        </p:spPr>
      </p:pic>
      <p:sp>
        <p:nvSpPr>
          <p:cNvPr id="15" name="object 11">
            <a:extLst>
              <a:ext uri="{FF2B5EF4-FFF2-40B4-BE49-F238E27FC236}">
                <a16:creationId xmlns:a16="http://schemas.microsoft.com/office/drawing/2014/main" id="{68993E9C-67AF-B464-F56D-E0452910ECEA}"/>
              </a:ext>
            </a:extLst>
          </p:cNvPr>
          <p:cNvSpPr/>
          <p:nvPr/>
        </p:nvSpPr>
        <p:spPr>
          <a:xfrm>
            <a:off x="2046329" y="2157349"/>
            <a:ext cx="1257300" cy="1238250"/>
          </a:xfrm>
          <a:custGeom>
            <a:avLst/>
            <a:gdLst/>
            <a:ahLst/>
            <a:cxnLst/>
            <a:rect l="l" t="t" r="r" b="b"/>
            <a:pathLst>
              <a:path w="1257300" h="1238250">
                <a:moveTo>
                  <a:pt x="0" y="1238250"/>
                </a:moveTo>
                <a:lnTo>
                  <a:pt x="1257300" y="1238250"/>
                </a:lnTo>
                <a:lnTo>
                  <a:pt x="1257300" y="0"/>
                </a:lnTo>
                <a:lnTo>
                  <a:pt x="0" y="0"/>
                </a:lnTo>
                <a:lnTo>
                  <a:pt x="0" y="123825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2">
            <a:extLst>
              <a:ext uri="{FF2B5EF4-FFF2-40B4-BE49-F238E27FC236}">
                <a16:creationId xmlns:a16="http://schemas.microsoft.com/office/drawing/2014/main" id="{1FECDE08-CA4C-0078-31A9-6A758C7A57C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33556" y="1857375"/>
            <a:ext cx="2800350" cy="1571625"/>
          </a:xfrm>
          <a:prstGeom prst="rect">
            <a:avLst/>
          </a:prstGeom>
        </p:spPr>
      </p:pic>
      <p:pic>
        <p:nvPicPr>
          <p:cNvPr id="20" name="object 13">
            <a:extLst>
              <a:ext uri="{FF2B5EF4-FFF2-40B4-BE49-F238E27FC236}">
                <a16:creationId xmlns:a16="http://schemas.microsoft.com/office/drawing/2014/main" id="{BB81ADE1-2E9E-FC9E-7403-0044A68BF0C3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43084" y="1847850"/>
            <a:ext cx="1257300" cy="1228725"/>
          </a:xfrm>
          <a:prstGeom prst="rect">
            <a:avLst/>
          </a:prstGeom>
        </p:spPr>
      </p:pic>
      <p:pic>
        <p:nvPicPr>
          <p:cNvPr id="21" name="object 14">
            <a:extLst>
              <a:ext uri="{FF2B5EF4-FFF2-40B4-BE49-F238E27FC236}">
                <a16:creationId xmlns:a16="http://schemas.microsoft.com/office/drawing/2014/main" id="{08933772-E97A-82F3-C6B8-0A2A2AE8981D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95484" y="2000250"/>
            <a:ext cx="1257300" cy="1228725"/>
          </a:xfrm>
          <a:prstGeom prst="rect">
            <a:avLst/>
          </a:prstGeom>
        </p:spPr>
      </p:pic>
      <p:sp>
        <p:nvSpPr>
          <p:cNvPr id="22" name="object 15">
            <a:extLst>
              <a:ext uri="{FF2B5EF4-FFF2-40B4-BE49-F238E27FC236}">
                <a16:creationId xmlns:a16="http://schemas.microsoft.com/office/drawing/2014/main" id="{5365DAFB-36A4-9CE7-9B4D-D013EE601883}"/>
              </a:ext>
            </a:extLst>
          </p:cNvPr>
          <p:cNvSpPr/>
          <p:nvPr/>
        </p:nvSpPr>
        <p:spPr>
          <a:xfrm>
            <a:off x="9090785" y="1995423"/>
            <a:ext cx="1266825" cy="1238250"/>
          </a:xfrm>
          <a:custGeom>
            <a:avLst/>
            <a:gdLst/>
            <a:ahLst/>
            <a:cxnLst/>
            <a:rect l="l" t="t" r="r" b="b"/>
            <a:pathLst>
              <a:path w="1266825" h="1238250">
                <a:moveTo>
                  <a:pt x="0" y="1238250"/>
                </a:moveTo>
                <a:lnTo>
                  <a:pt x="1266825" y="1238250"/>
                </a:lnTo>
                <a:lnTo>
                  <a:pt x="1266825" y="0"/>
                </a:lnTo>
                <a:lnTo>
                  <a:pt x="0" y="0"/>
                </a:lnTo>
                <a:lnTo>
                  <a:pt x="0" y="123825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7">
            <a:extLst>
              <a:ext uri="{FF2B5EF4-FFF2-40B4-BE49-F238E27FC236}">
                <a16:creationId xmlns:a16="http://schemas.microsoft.com/office/drawing/2014/main" id="{EBC370E9-4B41-5511-C809-53B3ECB4DFA9}"/>
              </a:ext>
            </a:extLst>
          </p:cNvPr>
          <p:cNvSpPr/>
          <p:nvPr/>
        </p:nvSpPr>
        <p:spPr>
          <a:xfrm>
            <a:off x="9243185" y="2147824"/>
            <a:ext cx="1266825" cy="1238250"/>
          </a:xfrm>
          <a:custGeom>
            <a:avLst/>
            <a:gdLst/>
            <a:ahLst/>
            <a:cxnLst/>
            <a:rect l="l" t="t" r="r" b="b"/>
            <a:pathLst>
              <a:path w="1266825" h="1238250">
                <a:moveTo>
                  <a:pt x="0" y="1238250"/>
                </a:moveTo>
                <a:lnTo>
                  <a:pt x="1266825" y="1238250"/>
                </a:lnTo>
                <a:lnTo>
                  <a:pt x="1266825" y="0"/>
                </a:lnTo>
                <a:lnTo>
                  <a:pt x="0" y="0"/>
                </a:lnTo>
                <a:lnTo>
                  <a:pt x="0" y="123825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Picture 23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11D98B77-17F5-B441-8479-6003C61FD3AF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49027" y="2156079"/>
            <a:ext cx="1261872" cy="1225296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43" name="Freeform 42">
            <a:extLst>
              <a:ext uri="{FF2B5EF4-FFF2-40B4-BE49-F238E27FC236}">
                <a16:creationId xmlns:a16="http://schemas.microsoft.com/office/drawing/2014/main" id="{87FBF66D-66D6-F549-B81F-4A5EE6AFBE0B}"/>
              </a:ext>
            </a:extLst>
          </p:cNvPr>
          <p:cNvSpPr/>
          <p:nvPr/>
        </p:nvSpPr>
        <p:spPr>
          <a:xfrm>
            <a:off x="3446505" y="2643187"/>
            <a:ext cx="914400" cy="12808"/>
          </a:xfrm>
          <a:custGeom>
            <a:avLst/>
            <a:gdLst>
              <a:gd name="csX0" fmla="*/ 0 w 914400"/>
              <a:gd name="csY0" fmla="*/ 281 h 12808"/>
              <a:gd name="csX1" fmla="*/ 87682 w 914400"/>
              <a:gd name="csY1" fmla="*/ 12808 h 12808"/>
              <a:gd name="csX2" fmla="*/ 789140 w 914400"/>
              <a:gd name="csY2" fmla="*/ 281 h 12808"/>
              <a:gd name="csX3" fmla="*/ 914400 w 914400"/>
              <a:gd name="csY3" fmla="*/ 281 h 128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14400" h="12808">
                <a:moveTo>
                  <a:pt x="0" y="281"/>
                </a:moveTo>
                <a:cubicBezTo>
                  <a:pt x="29227" y="4457"/>
                  <a:pt x="58158" y="12808"/>
                  <a:pt x="87682" y="12808"/>
                </a:cubicBezTo>
                <a:cubicBezTo>
                  <a:pt x="321539" y="12808"/>
                  <a:pt x="555310" y="3824"/>
                  <a:pt x="789140" y="281"/>
                </a:cubicBezTo>
                <a:cubicBezTo>
                  <a:pt x="830889" y="-352"/>
                  <a:pt x="872647" y="281"/>
                  <a:pt x="914400" y="281"/>
                </a:cubicBezTo>
              </a:path>
            </a:pathLst>
          </a:custGeom>
          <a:noFill/>
          <a:ln w="31750">
            <a:solidFill>
              <a:srgbClr val="646464"/>
            </a:solidFill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38C9A71C-7BCC-91D2-F8CA-011ABEC648AE}"/>
              </a:ext>
            </a:extLst>
          </p:cNvPr>
          <p:cNvSpPr/>
          <p:nvPr/>
        </p:nvSpPr>
        <p:spPr>
          <a:xfrm>
            <a:off x="7733301" y="2601740"/>
            <a:ext cx="914400" cy="12808"/>
          </a:xfrm>
          <a:custGeom>
            <a:avLst/>
            <a:gdLst>
              <a:gd name="csX0" fmla="*/ 0 w 914400"/>
              <a:gd name="csY0" fmla="*/ 281 h 12808"/>
              <a:gd name="csX1" fmla="*/ 87682 w 914400"/>
              <a:gd name="csY1" fmla="*/ 12808 h 12808"/>
              <a:gd name="csX2" fmla="*/ 789140 w 914400"/>
              <a:gd name="csY2" fmla="*/ 281 h 12808"/>
              <a:gd name="csX3" fmla="*/ 914400 w 914400"/>
              <a:gd name="csY3" fmla="*/ 281 h 128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14400" h="12808">
                <a:moveTo>
                  <a:pt x="0" y="281"/>
                </a:moveTo>
                <a:cubicBezTo>
                  <a:pt x="29227" y="4457"/>
                  <a:pt x="58158" y="12808"/>
                  <a:pt x="87682" y="12808"/>
                </a:cubicBezTo>
                <a:cubicBezTo>
                  <a:pt x="321539" y="12808"/>
                  <a:pt x="555310" y="3824"/>
                  <a:pt x="789140" y="281"/>
                </a:cubicBezTo>
                <a:cubicBezTo>
                  <a:pt x="830889" y="-352"/>
                  <a:pt x="872647" y="281"/>
                  <a:pt x="914400" y="281"/>
                </a:cubicBezTo>
              </a:path>
            </a:pathLst>
          </a:custGeom>
          <a:noFill/>
          <a:ln w="31750">
            <a:solidFill>
              <a:srgbClr val="646464"/>
            </a:solidFill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094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D1EC2-82E0-AAC5-6AD1-D4EE5E1B3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11321AAE-6A3A-3F70-BA89-807870F5AB26}"/>
              </a:ext>
            </a:extLst>
          </p:cNvPr>
          <p:cNvSpPr/>
          <p:nvPr/>
        </p:nvSpPr>
        <p:spPr>
          <a:xfrm>
            <a:off x="8677160" y="1377865"/>
            <a:ext cx="2093947" cy="2202056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791DC8D-C7F1-3328-9C3A-684AC2D6656F}"/>
              </a:ext>
            </a:extLst>
          </p:cNvPr>
          <p:cNvCxnSpPr/>
          <p:nvPr/>
        </p:nvCxnSpPr>
        <p:spPr>
          <a:xfrm>
            <a:off x="914400" y="1071563"/>
            <a:ext cx="10086975" cy="0"/>
          </a:xfrm>
          <a:prstGeom prst="line">
            <a:avLst/>
          </a:prstGeom>
          <a:ln w="22225">
            <a:solidFill>
              <a:srgbClr val="7F9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2D0D175-C739-9C14-F904-A32C6462F57C}"/>
              </a:ext>
            </a:extLst>
          </p:cNvPr>
          <p:cNvSpPr txBox="1"/>
          <p:nvPr/>
        </p:nvSpPr>
        <p:spPr>
          <a:xfrm>
            <a:off x="914399" y="494912"/>
            <a:ext cx="93297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venir Light" panose="020B0402020203020204" pitchFamily="34" charset="77"/>
              </a:rPr>
              <a:t>What does surrogate modeling look like on TACC systems?</a:t>
            </a:r>
          </a:p>
        </p:txBody>
      </p:sp>
      <p:sp>
        <p:nvSpPr>
          <p:cNvPr id="1032" name="Slide Number Placeholder 1031">
            <a:extLst>
              <a:ext uri="{FF2B5EF4-FFF2-40B4-BE49-F238E27FC236}">
                <a16:creationId xmlns:a16="http://schemas.microsoft.com/office/drawing/2014/main" id="{1090870E-A8F7-5D8A-30B0-980888AE3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78B8C-3A5C-324B-A3F5-C0AF7DCE0B23}" type="slidenum">
              <a:rPr lang="en-US" smtClean="0"/>
              <a:t>3</a:t>
            </a:fld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D5EBB3-FDD4-189F-2FAE-068BAE29E78B}"/>
              </a:ext>
            </a:extLst>
          </p:cNvPr>
          <p:cNvSpPr/>
          <p:nvPr/>
        </p:nvSpPr>
        <p:spPr>
          <a:xfrm>
            <a:off x="4862097" y="4148706"/>
            <a:ext cx="1516524" cy="1516524"/>
          </a:xfrm>
          <a:prstGeom prst="rect">
            <a:avLst/>
          </a:prstGeom>
          <a:solidFill>
            <a:srgbClr val="190E4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A9DF88C-C387-93B6-747B-1F0584E2A58B}"/>
              </a:ext>
            </a:extLst>
          </p:cNvPr>
          <p:cNvCxnSpPr>
            <a:cxnSpLocks/>
          </p:cNvCxnSpPr>
          <p:nvPr/>
        </p:nvCxnSpPr>
        <p:spPr>
          <a:xfrm>
            <a:off x="5219961" y="6117020"/>
            <a:ext cx="1487904" cy="0"/>
          </a:xfrm>
          <a:prstGeom prst="line">
            <a:avLst/>
          </a:prstGeom>
          <a:ln w="12700">
            <a:solidFill>
              <a:srgbClr val="646464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9584D72-34D7-52EE-404E-F94047C500B5}"/>
              </a:ext>
            </a:extLst>
          </p:cNvPr>
          <p:cNvCxnSpPr>
            <a:cxnSpLocks/>
          </p:cNvCxnSpPr>
          <p:nvPr/>
        </p:nvCxnSpPr>
        <p:spPr>
          <a:xfrm flipV="1">
            <a:off x="6869191" y="4527489"/>
            <a:ext cx="0" cy="1484106"/>
          </a:xfrm>
          <a:prstGeom prst="line">
            <a:avLst/>
          </a:prstGeom>
          <a:ln w="12700">
            <a:solidFill>
              <a:srgbClr val="646464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D867CF66-B254-F08F-99E5-E7130F0BFAEF}"/>
              </a:ext>
            </a:extLst>
          </p:cNvPr>
          <p:cNvSpPr/>
          <p:nvPr/>
        </p:nvSpPr>
        <p:spPr>
          <a:xfrm>
            <a:off x="5014497" y="4301106"/>
            <a:ext cx="1516524" cy="1516524"/>
          </a:xfrm>
          <a:prstGeom prst="rect">
            <a:avLst/>
          </a:prstGeom>
          <a:solidFill>
            <a:srgbClr val="190E4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7A9ECA6-9BE2-2D49-A696-18A8FB36EAA9}"/>
              </a:ext>
            </a:extLst>
          </p:cNvPr>
          <p:cNvSpPr/>
          <p:nvPr/>
        </p:nvSpPr>
        <p:spPr>
          <a:xfrm>
            <a:off x="914399" y="3961847"/>
            <a:ext cx="6657493" cy="254310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bject 4">
            <a:extLst>
              <a:ext uri="{FF2B5EF4-FFF2-40B4-BE49-F238E27FC236}">
                <a16:creationId xmlns:a16="http://schemas.microsoft.com/office/drawing/2014/main" id="{4AEBBD6C-340D-48FC-5E17-E893302B4A0A}"/>
              </a:ext>
            </a:extLst>
          </p:cNvPr>
          <p:cNvSpPr txBox="1"/>
          <p:nvPr/>
        </p:nvSpPr>
        <p:spPr>
          <a:xfrm>
            <a:off x="1197314" y="4228387"/>
            <a:ext cx="3426564" cy="75469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1600" dirty="0">
                <a:latin typeface="Avenir Book" panose="02000503020000020003" pitchFamily="2" charset="0"/>
                <a:cs typeface="Arial" panose="020B0604020202020204" pitchFamily="34" charset="0"/>
              </a:rPr>
              <a:t>Most simulations of this type output a time-series of grid snapshots, or a big matrix of shape:</a:t>
            </a:r>
            <a:endParaRPr sz="16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sp>
        <p:nvSpPr>
          <p:cNvPr id="34" name="object 4">
            <a:extLst>
              <a:ext uri="{FF2B5EF4-FFF2-40B4-BE49-F238E27FC236}">
                <a16:creationId xmlns:a16="http://schemas.microsoft.com/office/drawing/2014/main" id="{1488C318-6FBB-9E01-EBC9-21FA366F9C99}"/>
              </a:ext>
            </a:extLst>
          </p:cNvPr>
          <p:cNvSpPr txBox="1"/>
          <p:nvPr/>
        </p:nvSpPr>
        <p:spPr>
          <a:xfrm>
            <a:off x="1133378" y="5124776"/>
            <a:ext cx="3894586" cy="2930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(batch, time,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xdim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ydim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DDB014B-A5A2-A04B-F931-6AD01B113221}"/>
              </a:ext>
            </a:extLst>
          </p:cNvPr>
          <p:cNvSpPr txBox="1"/>
          <p:nvPr/>
        </p:nvSpPr>
        <p:spPr>
          <a:xfrm>
            <a:off x="5634214" y="6094050"/>
            <a:ext cx="858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xdim</a:t>
            </a:r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EB7B33D-2A70-DAF4-C887-E480616C6E41}"/>
              </a:ext>
            </a:extLst>
          </p:cNvPr>
          <p:cNvSpPr txBox="1"/>
          <p:nvPr/>
        </p:nvSpPr>
        <p:spPr>
          <a:xfrm rot="16200000">
            <a:off x="6604851" y="5042626"/>
            <a:ext cx="858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</a:t>
            </a:r>
            <a:endParaRPr lang="en-US" dirty="0"/>
          </a:p>
        </p:txBody>
      </p:sp>
      <p:pic>
        <p:nvPicPr>
          <p:cNvPr id="40" name="Picture 39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C81F0517-7E12-8879-B5A9-661D79E6317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92948" y="4494789"/>
            <a:ext cx="1557167" cy="1509699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" name="object 3">
            <a:extLst>
              <a:ext uri="{FF2B5EF4-FFF2-40B4-BE49-F238E27FC236}">
                <a16:creationId xmlns:a16="http://schemas.microsoft.com/office/drawing/2014/main" id="{F58447FB-5A60-9DFF-F22A-DBBCB12C74E3}"/>
              </a:ext>
            </a:extLst>
          </p:cNvPr>
          <p:cNvSpPr txBox="1"/>
          <p:nvPr/>
        </p:nvSpPr>
        <p:spPr>
          <a:xfrm>
            <a:off x="1645694" y="1505189"/>
            <a:ext cx="2503906" cy="26225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latin typeface="Avenir Book" panose="02000503020000020003" pitchFamily="2" charset="0"/>
                <a:cs typeface="Arial" panose="020B0604020202020204" pitchFamily="34" charset="0"/>
              </a:rPr>
              <a:t>Initial</a:t>
            </a:r>
            <a:r>
              <a:rPr sz="1600" spc="75" dirty="0">
                <a:latin typeface="Avenir Book" panose="02000503020000020003" pitchFamily="2" charset="0"/>
                <a:cs typeface="Arial" panose="020B0604020202020204" pitchFamily="34" charset="0"/>
              </a:rPr>
              <a:t> </a:t>
            </a:r>
            <a:r>
              <a:rPr sz="1600" spc="-10" dirty="0">
                <a:latin typeface="Avenir Book" panose="02000503020000020003" pitchFamily="2" charset="0"/>
                <a:cs typeface="Arial" panose="020B0604020202020204" pitchFamily="34" charset="0"/>
              </a:rPr>
              <a:t>Conditions</a:t>
            </a:r>
            <a:endParaRPr sz="16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FC5740FD-1E20-BBAB-84F6-E19CE8032C27}"/>
              </a:ext>
            </a:extLst>
          </p:cNvPr>
          <p:cNvSpPr txBox="1"/>
          <p:nvPr/>
        </p:nvSpPr>
        <p:spPr>
          <a:xfrm>
            <a:off x="4623878" y="1520291"/>
            <a:ext cx="3019706" cy="26225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latin typeface="Avenir Book" panose="02000503020000020003" pitchFamily="2" charset="0"/>
                <a:cs typeface="Arial" panose="020B0604020202020204" pitchFamily="34" charset="0"/>
              </a:rPr>
              <a:t>Solve</a:t>
            </a:r>
            <a:r>
              <a:rPr sz="1600" spc="114" dirty="0">
                <a:latin typeface="Avenir Book" panose="02000503020000020003" pitchFamily="2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venir Book" panose="02000503020000020003" pitchFamily="2" charset="0"/>
                <a:cs typeface="Arial" panose="020B0604020202020204" pitchFamily="34" charset="0"/>
              </a:rPr>
              <a:t>the</a:t>
            </a:r>
            <a:r>
              <a:rPr sz="1600" spc="114" dirty="0">
                <a:latin typeface="Avenir Book" panose="02000503020000020003" pitchFamily="2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venir Book" panose="02000503020000020003" pitchFamily="2" charset="0"/>
                <a:cs typeface="Arial" panose="020B0604020202020204" pitchFamily="34" charset="0"/>
              </a:rPr>
              <a:t>Governing</a:t>
            </a:r>
            <a:r>
              <a:rPr sz="1600" spc="80" dirty="0">
                <a:latin typeface="Avenir Book" panose="02000503020000020003" pitchFamily="2" charset="0"/>
                <a:cs typeface="Arial" panose="020B0604020202020204" pitchFamily="34" charset="0"/>
              </a:rPr>
              <a:t> </a:t>
            </a:r>
            <a:r>
              <a:rPr sz="1600" spc="-10" dirty="0">
                <a:latin typeface="Avenir Book" panose="02000503020000020003" pitchFamily="2" charset="0"/>
                <a:cs typeface="Arial" panose="020B0604020202020204" pitchFamily="34" charset="0"/>
              </a:rPr>
              <a:t>Equations</a:t>
            </a:r>
            <a:endParaRPr sz="16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B54AF7D4-C34C-E5B4-85E9-C99801DE8FC6}"/>
              </a:ext>
            </a:extLst>
          </p:cNvPr>
          <p:cNvSpPr txBox="1"/>
          <p:nvPr/>
        </p:nvSpPr>
        <p:spPr>
          <a:xfrm>
            <a:off x="9415841" y="1488495"/>
            <a:ext cx="932244" cy="26225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00" spc="-10" dirty="0">
                <a:latin typeface="Avenir Book" panose="02000503020000020003" pitchFamily="2" charset="0"/>
                <a:cs typeface="Arial" panose="020B0604020202020204" pitchFamily="34" charset="0"/>
              </a:rPr>
              <a:t>Output</a:t>
            </a:r>
            <a:endParaRPr sz="16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pic>
        <p:nvPicPr>
          <p:cNvPr id="13" name="object 7">
            <a:extLst>
              <a:ext uri="{FF2B5EF4-FFF2-40B4-BE49-F238E27FC236}">
                <a16:creationId xmlns:a16="http://schemas.microsoft.com/office/drawing/2014/main" id="{8D57FF90-3EEC-0A54-FBB9-0B2F4866E0B6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46229" y="1857375"/>
            <a:ext cx="1247775" cy="1228725"/>
          </a:xfrm>
          <a:prstGeom prst="rect">
            <a:avLst/>
          </a:prstGeom>
        </p:spPr>
      </p:pic>
      <p:pic>
        <p:nvPicPr>
          <p:cNvPr id="16" name="object 8">
            <a:extLst>
              <a:ext uri="{FF2B5EF4-FFF2-40B4-BE49-F238E27FC236}">
                <a16:creationId xmlns:a16="http://schemas.microsoft.com/office/drawing/2014/main" id="{446F31DD-5134-D401-8FCC-0BCABFA2F5E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98629" y="2009775"/>
            <a:ext cx="1247775" cy="1228725"/>
          </a:xfrm>
          <a:prstGeom prst="rect">
            <a:avLst/>
          </a:prstGeom>
        </p:spPr>
      </p:pic>
      <p:sp>
        <p:nvSpPr>
          <p:cNvPr id="18" name="object 9">
            <a:extLst>
              <a:ext uri="{FF2B5EF4-FFF2-40B4-BE49-F238E27FC236}">
                <a16:creationId xmlns:a16="http://schemas.microsoft.com/office/drawing/2014/main" id="{0338347A-5E5C-0B19-C354-29F20D6D0A9C}"/>
              </a:ext>
            </a:extLst>
          </p:cNvPr>
          <p:cNvSpPr/>
          <p:nvPr/>
        </p:nvSpPr>
        <p:spPr>
          <a:xfrm>
            <a:off x="1893930" y="2004948"/>
            <a:ext cx="1257300" cy="1238250"/>
          </a:xfrm>
          <a:custGeom>
            <a:avLst/>
            <a:gdLst/>
            <a:ahLst/>
            <a:cxnLst/>
            <a:rect l="l" t="t" r="r" b="b"/>
            <a:pathLst>
              <a:path w="1257300" h="1238250">
                <a:moveTo>
                  <a:pt x="0" y="1238250"/>
                </a:moveTo>
                <a:lnTo>
                  <a:pt x="1257300" y="1238250"/>
                </a:lnTo>
                <a:lnTo>
                  <a:pt x="1257300" y="0"/>
                </a:lnTo>
                <a:lnTo>
                  <a:pt x="0" y="0"/>
                </a:lnTo>
                <a:lnTo>
                  <a:pt x="0" y="123825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object 10">
            <a:extLst>
              <a:ext uri="{FF2B5EF4-FFF2-40B4-BE49-F238E27FC236}">
                <a16:creationId xmlns:a16="http://schemas.microsoft.com/office/drawing/2014/main" id="{B7A6C0A4-B4F9-B384-582A-1E6AB3C8F10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51029" y="2162175"/>
            <a:ext cx="1247775" cy="1228725"/>
          </a:xfrm>
          <a:prstGeom prst="rect">
            <a:avLst/>
          </a:prstGeom>
        </p:spPr>
      </p:pic>
      <p:sp>
        <p:nvSpPr>
          <p:cNvPr id="35" name="object 11">
            <a:extLst>
              <a:ext uri="{FF2B5EF4-FFF2-40B4-BE49-F238E27FC236}">
                <a16:creationId xmlns:a16="http://schemas.microsoft.com/office/drawing/2014/main" id="{161BE223-6E2A-3918-5567-816AC7570B40}"/>
              </a:ext>
            </a:extLst>
          </p:cNvPr>
          <p:cNvSpPr/>
          <p:nvPr/>
        </p:nvSpPr>
        <p:spPr>
          <a:xfrm>
            <a:off x="2046329" y="2157349"/>
            <a:ext cx="1257300" cy="1238250"/>
          </a:xfrm>
          <a:custGeom>
            <a:avLst/>
            <a:gdLst/>
            <a:ahLst/>
            <a:cxnLst/>
            <a:rect l="l" t="t" r="r" b="b"/>
            <a:pathLst>
              <a:path w="1257300" h="1238250">
                <a:moveTo>
                  <a:pt x="0" y="1238250"/>
                </a:moveTo>
                <a:lnTo>
                  <a:pt x="1257300" y="1238250"/>
                </a:lnTo>
                <a:lnTo>
                  <a:pt x="1257300" y="0"/>
                </a:lnTo>
                <a:lnTo>
                  <a:pt x="0" y="0"/>
                </a:lnTo>
                <a:lnTo>
                  <a:pt x="0" y="123825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6" name="object 12">
            <a:extLst>
              <a:ext uri="{FF2B5EF4-FFF2-40B4-BE49-F238E27FC236}">
                <a16:creationId xmlns:a16="http://schemas.microsoft.com/office/drawing/2014/main" id="{F5A1AD96-8A5B-137D-6335-DEEEB89A24B7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33556" y="1857375"/>
            <a:ext cx="2800350" cy="1571625"/>
          </a:xfrm>
          <a:prstGeom prst="rect">
            <a:avLst/>
          </a:prstGeom>
        </p:spPr>
      </p:pic>
      <p:pic>
        <p:nvPicPr>
          <p:cNvPr id="37" name="object 13">
            <a:extLst>
              <a:ext uri="{FF2B5EF4-FFF2-40B4-BE49-F238E27FC236}">
                <a16:creationId xmlns:a16="http://schemas.microsoft.com/office/drawing/2014/main" id="{8E45DF24-8FC1-0C3C-C18A-EADFC7BE6CFC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943084" y="1847850"/>
            <a:ext cx="1257300" cy="1228725"/>
          </a:xfrm>
          <a:prstGeom prst="rect">
            <a:avLst/>
          </a:prstGeom>
        </p:spPr>
      </p:pic>
      <p:pic>
        <p:nvPicPr>
          <p:cNvPr id="41" name="object 14">
            <a:extLst>
              <a:ext uri="{FF2B5EF4-FFF2-40B4-BE49-F238E27FC236}">
                <a16:creationId xmlns:a16="http://schemas.microsoft.com/office/drawing/2014/main" id="{B2913B52-975E-4F21-7FEF-6AD38F6A875D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95484" y="2000250"/>
            <a:ext cx="1257300" cy="1228725"/>
          </a:xfrm>
          <a:prstGeom prst="rect">
            <a:avLst/>
          </a:prstGeom>
        </p:spPr>
      </p:pic>
      <p:sp>
        <p:nvSpPr>
          <p:cNvPr id="42" name="object 15">
            <a:extLst>
              <a:ext uri="{FF2B5EF4-FFF2-40B4-BE49-F238E27FC236}">
                <a16:creationId xmlns:a16="http://schemas.microsoft.com/office/drawing/2014/main" id="{9A4F8880-E330-CB29-D9F9-DE9F9D36A000}"/>
              </a:ext>
            </a:extLst>
          </p:cNvPr>
          <p:cNvSpPr/>
          <p:nvPr/>
        </p:nvSpPr>
        <p:spPr>
          <a:xfrm>
            <a:off x="9090785" y="1995423"/>
            <a:ext cx="1266825" cy="1238250"/>
          </a:xfrm>
          <a:custGeom>
            <a:avLst/>
            <a:gdLst/>
            <a:ahLst/>
            <a:cxnLst/>
            <a:rect l="l" t="t" r="r" b="b"/>
            <a:pathLst>
              <a:path w="1266825" h="1238250">
                <a:moveTo>
                  <a:pt x="0" y="1238250"/>
                </a:moveTo>
                <a:lnTo>
                  <a:pt x="1266825" y="1238250"/>
                </a:lnTo>
                <a:lnTo>
                  <a:pt x="1266825" y="0"/>
                </a:lnTo>
                <a:lnTo>
                  <a:pt x="0" y="0"/>
                </a:lnTo>
                <a:lnTo>
                  <a:pt x="0" y="123825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17">
            <a:extLst>
              <a:ext uri="{FF2B5EF4-FFF2-40B4-BE49-F238E27FC236}">
                <a16:creationId xmlns:a16="http://schemas.microsoft.com/office/drawing/2014/main" id="{13A1F79B-B9FA-2C9D-B9E6-D4092EC4B51C}"/>
              </a:ext>
            </a:extLst>
          </p:cNvPr>
          <p:cNvSpPr/>
          <p:nvPr/>
        </p:nvSpPr>
        <p:spPr>
          <a:xfrm>
            <a:off x="9243185" y="2147824"/>
            <a:ext cx="1266825" cy="1238250"/>
          </a:xfrm>
          <a:custGeom>
            <a:avLst/>
            <a:gdLst/>
            <a:ahLst/>
            <a:cxnLst/>
            <a:rect l="l" t="t" r="r" b="b"/>
            <a:pathLst>
              <a:path w="1266825" h="1238250">
                <a:moveTo>
                  <a:pt x="0" y="1238250"/>
                </a:moveTo>
                <a:lnTo>
                  <a:pt x="1266825" y="1238250"/>
                </a:lnTo>
                <a:lnTo>
                  <a:pt x="1266825" y="0"/>
                </a:lnTo>
                <a:lnTo>
                  <a:pt x="0" y="0"/>
                </a:lnTo>
                <a:lnTo>
                  <a:pt x="0" y="123825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4" name="Picture 43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4B1F319F-3312-DC63-40B8-35CDA72B594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49027" y="2156079"/>
            <a:ext cx="1261872" cy="1225296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45" name="Freeform 44">
            <a:extLst>
              <a:ext uri="{FF2B5EF4-FFF2-40B4-BE49-F238E27FC236}">
                <a16:creationId xmlns:a16="http://schemas.microsoft.com/office/drawing/2014/main" id="{5DC60718-9BDF-C67F-D176-8FC386D4BA3E}"/>
              </a:ext>
            </a:extLst>
          </p:cNvPr>
          <p:cNvSpPr/>
          <p:nvPr/>
        </p:nvSpPr>
        <p:spPr>
          <a:xfrm>
            <a:off x="3446505" y="2643187"/>
            <a:ext cx="914400" cy="12808"/>
          </a:xfrm>
          <a:custGeom>
            <a:avLst/>
            <a:gdLst>
              <a:gd name="csX0" fmla="*/ 0 w 914400"/>
              <a:gd name="csY0" fmla="*/ 281 h 12808"/>
              <a:gd name="csX1" fmla="*/ 87682 w 914400"/>
              <a:gd name="csY1" fmla="*/ 12808 h 12808"/>
              <a:gd name="csX2" fmla="*/ 789140 w 914400"/>
              <a:gd name="csY2" fmla="*/ 281 h 12808"/>
              <a:gd name="csX3" fmla="*/ 914400 w 914400"/>
              <a:gd name="csY3" fmla="*/ 281 h 128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14400" h="12808">
                <a:moveTo>
                  <a:pt x="0" y="281"/>
                </a:moveTo>
                <a:cubicBezTo>
                  <a:pt x="29227" y="4457"/>
                  <a:pt x="58158" y="12808"/>
                  <a:pt x="87682" y="12808"/>
                </a:cubicBezTo>
                <a:cubicBezTo>
                  <a:pt x="321539" y="12808"/>
                  <a:pt x="555310" y="3824"/>
                  <a:pt x="789140" y="281"/>
                </a:cubicBezTo>
                <a:cubicBezTo>
                  <a:pt x="830889" y="-352"/>
                  <a:pt x="872647" y="281"/>
                  <a:pt x="914400" y="281"/>
                </a:cubicBezTo>
              </a:path>
            </a:pathLst>
          </a:custGeom>
          <a:noFill/>
          <a:ln w="31750">
            <a:solidFill>
              <a:srgbClr val="646464"/>
            </a:solidFill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97109C31-304B-5615-FC06-8D3DF0C00AC0}"/>
              </a:ext>
            </a:extLst>
          </p:cNvPr>
          <p:cNvSpPr/>
          <p:nvPr/>
        </p:nvSpPr>
        <p:spPr>
          <a:xfrm>
            <a:off x="7733301" y="2601740"/>
            <a:ext cx="914400" cy="12808"/>
          </a:xfrm>
          <a:custGeom>
            <a:avLst/>
            <a:gdLst>
              <a:gd name="csX0" fmla="*/ 0 w 914400"/>
              <a:gd name="csY0" fmla="*/ 281 h 12808"/>
              <a:gd name="csX1" fmla="*/ 87682 w 914400"/>
              <a:gd name="csY1" fmla="*/ 12808 h 12808"/>
              <a:gd name="csX2" fmla="*/ 789140 w 914400"/>
              <a:gd name="csY2" fmla="*/ 281 h 12808"/>
              <a:gd name="csX3" fmla="*/ 914400 w 914400"/>
              <a:gd name="csY3" fmla="*/ 281 h 128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14400" h="12808">
                <a:moveTo>
                  <a:pt x="0" y="281"/>
                </a:moveTo>
                <a:cubicBezTo>
                  <a:pt x="29227" y="4457"/>
                  <a:pt x="58158" y="12808"/>
                  <a:pt x="87682" y="12808"/>
                </a:cubicBezTo>
                <a:cubicBezTo>
                  <a:pt x="321539" y="12808"/>
                  <a:pt x="555310" y="3824"/>
                  <a:pt x="789140" y="281"/>
                </a:cubicBezTo>
                <a:cubicBezTo>
                  <a:pt x="830889" y="-352"/>
                  <a:pt x="872647" y="281"/>
                  <a:pt x="914400" y="281"/>
                </a:cubicBezTo>
              </a:path>
            </a:pathLst>
          </a:custGeom>
          <a:noFill/>
          <a:ln w="31750">
            <a:solidFill>
              <a:srgbClr val="646464"/>
            </a:solidFill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326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D002E-F856-1AC5-ACB4-094391614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00E9E04-278C-3385-CC90-B86013A3AD58}"/>
              </a:ext>
            </a:extLst>
          </p:cNvPr>
          <p:cNvCxnSpPr/>
          <p:nvPr/>
        </p:nvCxnSpPr>
        <p:spPr>
          <a:xfrm>
            <a:off x="914400" y="1071563"/>
            <a:ext cx="10086975" cy="0"/>
          </a:xfrm>
          <a:prstGeom prst="line">
            <a:avLst/>
          </a:prstGeom>
          <a:ln w="22225">
            <a:solidFill>
              <a:srgbClr val="7F9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EFC3D74-701F-5BC4-627B-ED7F31D9CD25}"/>
              </a:ext>
            </a:extLst>
          </p:cNvPr>
          <p:cNvSpPr txBox="1"/>
          <p:nvPr/>
        </p:nvSpPr>
        <p:spPr>
          <a:xfrm>
            <a:off x="914399" y="494912"/>
            <a:ext cx="93297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venir Light" panose="020B0402020203020204" pitchFamily="34" charset="77"/>
              </a:rPr>
              <a:t>What does surrogate modeling look like on TACC systems?</a:t>
            </a:r>
          </a:p>
        </p:txBody>
      </p:sp>
      <p:sp>
        <p:nvSpPr>
          <p:cNvPr id="1032" name="Slide Number Placeholder 1031">
            <a:extLst>
              <a:ext uri="{FF2B5EF4-FFF2-40B4-BE49-F238E27FC236}">
                <a16:creationId xmlns:a16="http://schemas.microsoft.com/office/drawing/2014/main" id="{8D1DC638-AD7B-0571-4F85-572E6B324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78B8C-3A5C-324B-A3F5-C0AF7DCE0B23}" type="slidenum">
              <a:rPr lang="en-US" smtClean="0"/>
              <a:t>4</a:t>
            </a:fld>
            <a:endParaRPr lang="en-US" dirty="0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7A564A0F-7D42-6BAC-2F96-C2DE950B725F}"/>
              </a:ext>
            </a:extLst>
          </p:cNvPr>
          <p:cNvSpPr txBox="1"/>
          <p:nvPr/>
        </p:nvSpPr>
        <p:spPr>
          <a:xfrm>
            <a:off x="1645694" y="1505189"/>
            <a:ext cx="2503906" cy="26225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latin typeface="Avenir Book" panose="02000503020000020003" pitchFamily="2" charset="0"/>
                <a:cs typeface="Arial" panose="020B0604020202020204" pitchFamily="34" charset="0"/>
              </a:rPr>
              <a:t>Initial</a:t>
            </a:r>
            <a:r>
              <a:rPr sz="1600" spc="75" dirty="0">
                <a:latin typeface="Avenir Book" panose="02000503020000020003" pitchFamily="2" charset="0"/>
                <a:cs typeface="Arial" panose="020B0604020202020204" pitchFamily="34" charset="0"/>
              </a:rPr>
              <a:t> </a:t>
            </a:r>
            <a:r>
              <a:rPr sz="1600" spc="-10" dirty="0">
                <a:latin typeface="Avenir Book" panose="02000503020000020003" pitchFamily="2" charset="0"/>
                <a:cs typeface="Arial" panose="020B0604020202020204" pitchFamily="34" charset="0"/>
              </a:rPr>
              <a:t>Conditions</a:t>
            </a:r>
            <a:endParaRPr sz="16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2BCA9648-C2CC-BB91-6953-F7B0BE87F0A9}"/>
              </a:ext>
            </a:extLst>
          </p:cNvPr>
          <p:cNvSpPr txBox="1"/>
          <p:nvPr/>
        </p:nvSpPr>
        <p:spPr>
          <a:xfrm>
            <a:off x="4623878" y="1520291"/>
            <a:ext cx="3019706" cy="26225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latin typeface="Avenir Book" panose="02000503020000020003" pitchFamily="2" charset="0"/>
                <a:cs typeface="Arial" panose="020B0604020202020204" pitchFamily="34" charset="0"/>
              </a:rPr>
              <a:t>Solve</a:t>
            </a:r>
            <a:r>
              <a:rPr sz="1600" spc="114" dirty="0">
                <a:latin typeface="Avenir Book" panose="02000503020000020003" pitchFamily="2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venir Book" panose="02000503020000020003" pitchFamily="2" charset="0"/>
                <a:cs typeface="Arial" panose="020B0604020202020204" pitchFamily="34" charset="0"/>
              </a:rPr>
              <a:t>the</a:t>
            </a:r>
            <a:r>
              <a:rPr sz="1600" spc="114" dirty="0">
                <a:latin typeface="Avenir Book" panose="02000503020000020003" pitchFamily="2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venir Book" panose="02000503020000020003" pitchFamily="2" charset="0"/>
                <a:cs typeface="Arial" panose="020B0604020202020204" pitchFamily="34" charset="0"/>
              </a:rPr>
              <a:t>Governing</a:t>
            </a:r>
            <a:r>
              <a:rPr sz="1600" spc="80" dirty="0">
                <a:latin typeface="Avenir Book" panose="02000503020000020003" pitchFamily="2" charset="0"/>
                <a:cs typeface="Arial" panose="020B0604020202020204" pitchFamily="34" charset="0"/>
              </a:rPr>
              <a:t> </a:t>
            </a:r>
            <a:r>
              <a:rPr sz="1600" spc="-10" dirty="0">
                <a:latin typeface="Avenir Book" panose="02000503020000020003" pitchFamily="2" charset="0"/>
                <a:cs typeface="Arial" panose="020B0604020202020204" pitchFamily="34" charset="0"/>
              </a:rPr>
              <a:t>Equations</a:t>
            </a:r>
            <a:endParaRPr sz="16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81193CE8-B5CA-B772-AE55-4EBC0967B4D9}"/>
              </a:ext>
            </a:extLst>
          </p:cNvPr>
          <p:cNvSpPr txBox="1"/>
          <p:nvPr/>
        </p:nvSpPr>
        <p:spPr>
          <a:xfrm>
            <a:off x="9415841" y="1488495"/>
            <a:ext cx="932244" cy="26225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00" spc="-10" dirty="0">
                <a:latin typeface="Avenir Book" panose="02000503020000020003" pitchFamily="2" charset="0"/>
                <a:cs typeface="Arial" panose="020B0604020202020204" pitchFamily="34" charset="0"/>
              </a:rPr>
              <a:t>Output</a:t>
            </a:r>
            <a:endParaRPr sz="16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pic>
        <p:nvPicPr>
          <p:cNvPr id="13" name="object 7">
            <a:extLst>
              <a:ext uri="{FF2B5EF4-FFF2-40B4-BE49-F238E27FC236}">
                <a16:creationId xmlns:a16="http://schemas.microsoft.com/office/drawing/2014/main" id="{2D86F3F4-D0AB-21CC-C356-43C0BC5121C1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46229" y="1857375"/>
            <a:ext cx="1247775" cy="1228725"/>
          </a:xfrm>
          <a:prstGeom prst="rect">
            <a:avLst/>
          </a:prstGeom>
        </p:spPr>
      </p:pic>
      <p:pic>
        <p:nvPicPr>
          <p:cNvPr id="16" name="object 8">
            <a:extLst>
              <a:ext uri="{FF2B5EF4-FFF2-40B4-BE49-F238E27FC236}">
                <a16:creationId xmlns:a16="http://schemas.microsoft.com/office/drawing/2014/main" id="{EBCFC196-5403-039F-C7D9-F8051FBAF652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98629" y="2009775"/>
            <a:ext cx="1247775" cy="1228725"/>
          </a:xfrm>
          <a:prstGeom prst="rect">
            <a:avLst/>
          </a:prstGeom>
        </p:spPr>
      </p:pic>
      <p:sp>
        <p:nvSpPr>
          <p:cNvPr id="18" name="object 9">
            <a:extLst>
              <a:ext uri="{FF2B5EF4-FFF2-40B4-BE49-F238E27FC236}">
                <a16:creationId xmlns:a16="http://schemas.microsoft.com/office/drawing/2014/main" id="{FC9A427B-7318-4F43-3490-2F89660B1C25}"/>
              </a:ext>
            </a:extLst>
          </p:cNvPr>
          <p:cNvSpPr/>
          <p:nvPr/>
        </p:nvSpPr>
        <p:spPr>
          <a:xfrm>
            <a:off x="1893930" y="2004948"/>
            <a:ext cx="1257300" cy="1238250"/>
          </a:xfrm>
          <a:custGeom>
            <a:avLst/>
            <a:gdLst/>
            <a:ahLst/>
            <a:cxnLst/>
            <a:rect l="l" t="t" r="r" b="b"/>
            <a:pathLst>
              <a:path w="1257300" h="1238250">
                <a:moveTo>
                  <a:pt x="0" y="1238250"/>
                </a:moveTo>
                <a:lnTo>
                  <a:pt x="1257300" y="1238250"/>
                </a:lnTo>
                <a:lnTo>
                  <a:pt x="1257300" y="0"/>
                </a:lnTo>
                <a:lnTo>
                  <a:pt x="0" y="0"/>
                </a:lnTo>
                <a:lnTo>
                  <a:pt x="0" y="123825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object 10">
            <a:extLst>
              <a:ext uri="{FF2B5EF4-FFF2-40B4-BE49-F238E27FC236}">
                <a16:creationId xmlns:a16="http://schemas.microsoft.com/office/drawing/2014/main" id="{C424828A-0D48-5B56-3493-9F7C0CF0BE12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51029" y="2162175"/>
            <a:ext cx="1247775" cy="1228725"/>
          </a:xfrm>
          <a:prstGeom prst="rect">
            <a:avLst/>
          </a:prstGeom>
        </p:spPr>
      </p:pic>
      <p:sp>
        <p:nvSpPr>
          <p:cNvPr id="35" name="object 11">
            <a:extLst>
              <a:ext uri="{FF2B5EF4-FFF2-40B4-BE49-F238E27FC236}">
                <a16:creationId xmlns:a16="http://schemas.microsoft.com/office/drawing/2014/main" id="{273F4821-581E-0A85-C898-E35033F1BA8A}"/>
              </a:ext>
            </a:extLst>
          </p:cNvPr>
          <p:cNvSpPr/>
          <p:nvPr/>
        </p:nvSpPr>
        <p:spPr>
          <a:xfrm>
            <a:off x="2046329" y="2157349"/>
            <a:ext cx="1257300" cy="1238250"/>
          </a:xfrm>
          <a:custGeom>
            <a:avLst/>
            <a:gdLst/>
            <a:ahLst/>
            <a:cxnLst/>
            <a:rect l="l" t="t" r="r" b="b"/>
            <a:pathLst>
              <a:path w="1257300" h="1238250">
                <a:moveTo>
                  <a:pt x="0" y="1238250"/>
                </a:moveTo>
                <a:lnTo>
                  <a:pt x="1257300" y="1238250"/>
                </a:lnTo>
                <a:lnTo>
                  <a:pt x="1257300" y="0"/>
                </a:lnTo>
                <a:lnTo>
                  <a:pt x="0" y="0"/>
                </a:lnTo>
                <a:lnTo>
                  <a:pt x="0" y="123825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6" name="object 12">
            <a:extLst>
              <a:ext uri="{FF2B5EF4-FFF2-40B4-BE49-F238E27FC236}">
                <a16:creationId xmlns:a16="http://schemas.microsoft.com/office/drawing/2014/main" id="{245D8598-AAF8-918E-2413-EC0EA1EE43C2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33556" y="1857375"/>
            <a:ext cx="2800350" cy="1571625"/>
          </a:xfrm>
          <a:prstGeom prst="rect">
            <a:avLst/>
          </a:prstGeom>
        </p:spPr>
      </p:pic>
      <p:pic>
        <p:nvPicPr>
          <p:cNvPr id="37" name="object 13">
            <a:extLst>
              <a:ext uri="{FF2B5EF4-FFF2-40B4-BE49-F238E27FC236}">
                <a16:creationId xmlns:a16="http://schemas.microsoft.com/office/drawing/2014/main" id="{DCAD4A3D-5F0E-449A-DD46-2192CCE0455E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43084" y="1847850"/>
            <a:ext cx="1257300" cy="1228725"/>
          </a:xfrm>
          <a:prstGeom prst="rect">
            <a:avLst/>
          </a:prstGeom>
        </p:spPr>
      </p:pic>
      <p:pic>
        <p:nvPicPr>
          <p:cNvPr id="41" name="object 14">
            <a:extLst>
              <a:ext uri="{FF2B5EF4-FFF2-40B4-BE49-F238E27FC236}">
                <a16:creationId xmlns:a16="http://schemas.microsoft.com/office/drawing/2014/main" id="{EB37C132-11D2-D3E8-75B5-1B387BDD462E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95484" y="2000250"/>
            <a:ext cx="1257300" cy="1228725"/>
          </a:xfrm>
          <a:prstGeom prst="rect">
            <a:avLst/>
          </a:prstGeom>
        </p:spPr>
      </p:pic>
      <p:sp>
        <p:nvSpPr>
          <p:cNvPr id="42" name="object 15">
            <a:extLst>
              <a:ext uri="{FF2B5EF4-FFF2-40B4-BE49-F238E27FC236}">
                <a16:creationId xmlns:a16="http://schemas.microsoft.com/office/drawing/2014/main" id="{ED6802A1-CF79-ABF9-2B8D-7FD0E8953968}"/>
              </a:ext>
            </a:extLst>
          </p:cNvPr>
          <p:cNvSpPr/>
          <p:nvPr/>
        </p:nvSpPr>
        <p:spPr>
          <a:xfrm>
            <a:off x="9090785" y="1995423"/>
            <a:ext cx="1266825" cy="1238250"/>
          </a:xfrm>
          <a:custGeom>
            <a:avLst/>
            <a:gdLst/>
            <a:ahLst/>
            <a:cxnLst/>
            <a:rect l="l" t="t" r="r" b="b"/>
            <a:pathLst>
              <a:path w="1266825" h="1238250">
                <a:moveTo>
                  <a:pt x="0" y="1238250"/>
                </a:moveTo>
                <a:lnTo>
                  <a:pt x="1266825" y="1238250"/>
                </a:lnTo>
                <a:lnTo>
                  <a:pt x="1266825" y="0"/>
                </a:lnTo>
                <a:lnTo>
                  <a:pt x="0" y="0"/>
                </a:lnTo>
                <a:lnTo>
                  <a:pt x="0" y="123825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17">
            <a:extLst>
              <a:ext uri="{FF2B5EF4-FFF2-40B4-BE49-F238E27FC236}">
                <a16:creationId xmlns:a16="http://schemas.microsoft.com/office/drawing/2014/main" id="{3CCE8162-6E60-E214-2677-2D7F1B2C4B82}"/>
              </a:ext>
            </a:extLst>
          </p:cNvPr>
          <p:cNvSpPr/>
          <p:nvPr/>
        </p:nvSpPr>
        <p:spPr>
          <a:xfrm>
            <a:off x="9243185" y="2147824"/>
            <a:ext cx="1266825" cy="1238250"/>
          </a:xfrm>
          <a:custGeom>
            <a:avLst/>
            <a:gdLst/>
            <a:ahLst/>
            <a:cxnLst/>
            <a:rect l="l" t="t" r="r" b="b"/>
            <a:pathLst>
              <a:path w="1266825" h="1238250">
                <a:moveTo>
                  <a:pt x="0" y="1238250"/>
                </a:moveTo>
                <a:lnTo>
                  <a:pt x="1266825" y="1238250"/>
                </a:lnTo>
                <a:lnTo>
                  <a:pt x="1266825" y="0"/>
                </a:lnTo>
                <a:lnTo>
                  <a:pt x="0" y="0"/>
                </a:lnTo>
                <a:lnTo>
                  <a:pt x="0" y="123825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4" name="Picture 43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6640163E-31C4-285A-249A-78355893C9B5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49027" y="2156079"/>
            <a:ext cx="1261872" cy="1225296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45" name="Freeform 44">
            <a:extLst>
              <a:ext uri="{FF2B5EF4-FFF2-40B4-BE49-F238E27FC236}">
                <a16:creationId xmlns:a16="http://schemas.microsoft.com/office/drawing/2014/main" id="{02D8368D-A489-ABFE-AA87-C5CB6E5B3C9F}"/>
              </a:ext>
            </a:extLst>
          </p:cNvPr>
          <p:cNvSpPr/>
          <p:nvPr/>
        </p:nvSpPr>
        <p:spPr>
          <a:xfrm>
            <a:off x="3446505" y="2643187"/>
            <a:ext cx="914400" cy="12808"/>
          </a:xfrm>
          <a:custGeom>
            <a:avLst/>
            <a:gdLst>
              <a:gd name="csX0" fmla="*/ 0 w 914400"/>
              <a:gd name="csY0" fmla="*/ 281 h 12808"/>
              <a:gd name="csX1" fmla="*/ 87682 w 914400"/>
              <a:gd name="csY1" fmla="*/ 12808 h 12808"/>
              <a:gd name="csX2" fmla="*/ 789140 w 914400"/>
              <a:gd name="csY2" fmla="*/ 281 h 12808"/>
              <a:gd name="csX3" fmla="*/ 914400 w 914400"/>
              <a:gd name="csY3" fmla="*/ 281 h 128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14400" h="12808">
                <a:moveTo>
                  <a:pt x="0" y="281"/>
                </a:moveTo>
                <a:cubicBezTo>
                  <a:pt x="29227" y="4457"/>
                  <a:pt x="58158" y="12808"/>
                  <a:pt x="87682" y="12808"/>
                </a:cubicBezTo>
                <a:cubicBezTo>
                  <a:pt x="321539" y="12808"/>
                  <a:pt x="555310" y="3824"/>
                  <a:pt x="789140" y="281"/>
                </a:cubicBezTo>
                <a:cubicBezTo>
                  <a:pt x="830889" y="-352"/>
                  <a:pt x="872647" y="281"/>
                  <a:pt x="914400" y="281"/>
                </a:cubicBezTo>
              </a:path>
            </a:pathLst>
          </a:custGeom>
          <a:noFill/>
          <a:ln w="31750">
            <a:solidFill>
              <a:srgbClr val="646464"/>
            </a:solidFill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6AAB9761-C882-2892-91E5-970ADEADF4DE}"/>
              </a:ext>
            </a:extLst>
          </p:cNvPr>
          <p:cNvSpPr/>
          <p:nvPr/>
        </p:nvSpPr>
        <p:spPr>
          <a:xfrm>
            <a:off x="7733301" y="2601740"/>
            <a:ext cx="914400" cy="12808"/>
          </a:xfrm>
          <a:custGeom>
            <a:avLst/>
            <a:gdLst>
              <a:gd name="csX0" fmla="*/ 0 w 914400"/>
              <a:gd name="csY0" fmla="*/ 281 h 12808"/>
              <a:gd name="csX1" fmla="*/ 87682 w 914400"/>
              <a:gd name="csY1" fmla="*/ 12808 h 12808"/>
              <a:gd name="csX2" fmla="*/ 789140 w 914400"/>
              <a:gd name="csY2" fmla="*/ 281 h 12808"/>
              <a:gd name="csX3" fmla="*/ 914400 w 914400"/>
              <a:gd name="csY3" fmla="*/ 281 h 128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14400" h="12808">
                <a:moveTo>
                  <a:pt x="0" y="281"/>
                </a:moveTo>
                <a:cubicBezTo>
                  <a:pt x="29227" y="4457"/>
                  <a:pt x="58158" y="12808"/>
                  <a:pt x="87682" y="12808"/>
                </a:cubicBezTo>
                <a:cubicBezTo>
                  <a:pt x="321539" y="12808"/>
                  <a:pt x="555310" y="3824"/>
                  <a:pt x="789140" y="281"/>
                </a:cubicBezTo>
                <a:cubicBezTo>
                  <a:pt x="830889" y="-352"/>
                  <a:pt x="872647" y="281"/>
                  <a:pt x="914400" y="281"/>
                </a:cubicBezTo>
              </a:path>
            </a:pathLst>
          </a:custGeom>
          <a:noFill/>
          <a:ln w="31750">
            <a:solidFill>
              <a:srgbClr val="646464"/>
            </a:solidFill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object 19">
            <a:extLst>
              <a:ext uri="{FF2B5EF4-FFF2-40B4-BE49-F238E27FC236}">
                <a16:creationId xmlns:a16="http://schemas.microsoft.com/office/drawing/2014/main" id="{8E385833-A8C0-7DF8-8512-621A766192F7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731879" y="4222868"/>
            <a:ext cx="1247775" cy="1228725"/>
          </a:xfrm>
          <a:prstGeom prst="rect">
            <a:avLst/>
          </a:prstGeom>
        </p:spPr>
      </p:pic>
      <p:pic>
        <p:nvPicPr>
          <p:cNvPr id="10" name="object 20">
            <a:extLst>
              <a:ext uri="{FF2B5EF4-FFF2-40B4-BE49-F238E27FC236}">
                <a16:creationId xmlns:a16="http://schemas.microsoft.com/office/drawing/2014/main" id="{A9A16963-B00F-17F5-1591-6F7FBB57C0AD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884279" y="4375268"/>
            <a:ext cx="1247775" cy="1228725"/>
          </a:xfrm>
          <a:prstGeom prst="rect">
            <a:avLst/>
          </a:prstGeom>
        </p:spPr>
      </p:pic>
      <p:sp>
        <p:nvSpPr>
          <p:cNvPr id="11" name="object 21">
            <a:extLst>
              <a:ext uri="{FF2B5EF4-FFF2-40B4-BE49-F238E27FC236}">
                <a16:creationId xmlns:a16="http://schemas.microsoft.com/office/drawing/2014/main" id="{2C7716B9-4396-B928-DEAA-B27D30ABC9A0}"/>
              </a:ext>
            </a:extLst>
          </p:cNvPr>
          <p:cNvSpPr/>
          <p:nvPr/>
        </p:nvSpPr>
        <p:spPr>
          <a:xfrm>
            <a:off x="1879580" y="4370505"/>
            <a:ext cx="1257300" cy="1238250"/>
          </a:xfrm>
          <a:custGeom>
            <a:avLst/>
            <a:gdLst/>
            <a:ahLst/>
            <a:cxnLst/>
            <a:rect l="l" t="t" r="r" b="b"/>
            <a:pathLst>
              <a:path w="1257300" h="1238250">
                <a:moveTo>
                  <a:pt x="0" y="1238250"/>
                </a:moveTo>
                <a:lnTo>
                  <a:pt x="1257300" y="1238250"/>
                </a:lnTo>
                <a:lnTo>
                  <a:pt x="1257300" y="0"/>
                </a:lnTo>
                <a:lnTo>
                  <a:pt x="0" y="0"/>
                </a:lnTo>
                <a:lnTo>
                  <a:pt x="0" y="123825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22">
            <a:extLst>
              <a:ext uri="{FF2B5EF4-FFF2-40B4-BE49-F238E27FC236}">
                <a16:creationId xmlns:a16="http://schemas.microsoft.com/office/drawing/2014/main" id="{05FC3F10-CE63-9C0B-73C1-BC5C18CC930C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036679" y="4527668"/>
            <a:ext cx="1257300" cy="1228725"/>
          </a:xfrm>
          <a:prstGeom prst="rect">
            <a:avLst/>
          </a:prstGeom>
        </p:spPr>
      </p:pic>
      <p:sp>
        <p:nvSpPr>
          <p:cNvPr id="14" name="object 23">
            <a:extLst>
              <a:ext uri="{FF2B5EF4-FFF2-40B4-BE49-F238E27FC236}">
                <a16:creationId xmlns:a16="http://schemas.microsoft.com/office/drawing/2014/main" id="{5AED5AF3-8D16-F70E-5C70-7A62AED783EB}"/>
              </a:ext>
            </a:extLst>
          </p:cNvPr>
          <p:cNvSpPr/>
          <p:nvPr/>
        </p:nvSpPr>
        <p:spPr>
          <a:xfrm>
            <a:off x="2031979" y="4522905"/>
            <a:ext cx="1266825" cy="1238250"/>
          </a:xfrm>
          <a:custGeom>
            <a:avLst/>
            <a:gdLst/>
            <a:ahLst/>
            <a:cxnLst/>
            <a:rect l="l" t="t" r="r" b="b"/>
            <a:pathLst>
              <a:path w="1266825" h="1238250">
                <a:moveTo>
                  <a:pt x="0" y="1238250"/>
                </a:moveTo>
                <a:lnTo>
                  <a:pt x="1266825" y="1238250"/>
                </a:lnTo>
                <a:lnTo>
                  <a:pt x="1266825" y="0"/>
                </a:lnTo>
                <a:lnTo>
                  <a:pt x="0" y="0"/>
                </a:lnTo>
                <a:lnTo>
                  <a:pt x="0" y="123825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25">
            <a:extLst>
              <a:ext uri="{FF2B5EF4-FFF2-40B4-BE49-F238E27FC236}">
                <a16:creationId xmlns:a16="http://schemas.microsoft.com/office/drawing/2014/main" id="{C839145C-83CD-CE26-BE94-5AA21ACB3B9F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947069" y="4261110"/>
            <a:ext cx="1257300" cy="1238250"/>
          </a:xfrm>
          <a:prstGeom prst="rect">
            <a:avLst/>
          </a:prstGeom>
        </p:spPr>
      </p:pic>
      <p:pic>
        <p:nvPicPr>
          <p:cNvPr id="17" name="object 26">
            <a:extLst>
              <a:ext uri="{FF2B5EF4-FFF2-40B4-BE49-F238E27FC236}">
                <a16:creationId xmlns:a16="http://schemas.microsoft.com/office/drawing/2014/main" id="{AB838BE3-0DD9-FED3-120D-1A05A3D88FA5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099469" y="4413510"/>
            <a:ext cx="1257300" cy="1238250"/>
          </a:xfrm>
          <a:prstGeom prst="rect">
            <a:avLst/>
          </a:prstGeom>
        </p:spPr>
      </p:pic>
      <p:sp>
        <p:nvSpPr>
          <p:cNvPr id="20" name="object 27">
            <a:extLst>
              <a:ext uri="{FF2B5EF4-FFF2-40B4-BE49-F238E27FC236}">
                <a16:creationId xmlns:a16="http://schemas.microsoft.com/office/drawing/2014/main" id="{C239BC7C-F000-1572-DFB0-3DE514BDCA6C}"/>
              </a:ext>
            </a:extLst>
          </p:cNvPr>
          <p:cNvSpPr/>
          <p:nvPr/>
        </p:nvSpPr>
        <p:spPr>
          <a:xfrm>
            <a:off x="9094770" y="4408747"/>
            <a:ext cx="1266825" cy="1247775"/>
          </a:xfrm>
          <a:custGeom>
            <a:avLst/>
            <a:gdLst/>
            <a:ahLst/>
            <a:cxnLst/>
            <a:rect l="l" t="t" r="r" b="b"/>
            <a:pathLst>
              <a:path w="1266825" h="1247775">
                <a:moveTo>
                  <a:pt x="0" y="1247775"/>
                </a:moveTo>
                <a:lnTo>
                  <a:pt x="1266825" y="1247775"/>
                </a:lnTo>
                <a:lnTo>
                  <a:pt x="1266825" y="0"/>
                </a:lnTo>
                <a:lnTo>
                  <a:pt x="0" y="0"/>
                </a:lnTo>
                <a:lnTo>
                  <a:pt x="0" y="1247775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9">
            <a:extLst>
              <a:ext uri="{FF2B5EF4-FFF2-40B4-BE49-F238E27FC236}">
                <a16:creationId xmlns:a16="http://schemas.microsoft.com/office/drawing/2014/main" id="{25AF8917-6629-01E4-9614-C3DBA12E350C}"/>
              </a:ext>
            </a:extLst>
          </p:cNvPr>
          <p:cNvSpPr/>
          <p:nvPr/>
        </p:nvSpPr>
        <p:spPr>
          <a:xfrm>
            <a:off x="9247170" y="4561147"/>
            <a:ext cx="1266825" cy="1247775"/>
          </a:xfrm>
          <a:custGeom>
            <a:avLst/>
            <a:gdLst/>
            <a:ahLst/>
            <a:cxnLst/>
            <a:rect l="l" t="t" r="r" b="b"/>
            <a:pathLst>
              <a:path w="1266825" h="1247775">
                <a:moveTo>
                  <a:pt x="0" y="1247775"/>
                </a:moveTo>
                <a:lnTo>
                  <a:pt x="1266825" y="1247775"/>
                </a:lnTo>
                <a:lnTo>
                  <a:pt x="1266825" y="0"/>
                </a:lnTo>
                <a:lnTo>
                  <a:pt x="0" y="0"/>
                </a:lnTo>
                <a:lnTo>
                  <a:pt x="0" y="1247775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066EFD1-9E63-389F-2CE7-19C16574C9B4}"/>
              </a:ext>
            </a:extLst>
          </p:cNvPr>
          <p:cNvGrpSpPr/>
          <p:nvPr/>
        </p:nvGrpSpPr>
        <p:grpSpPr>
          <a:xfrm>
            <a:off x="4733556" y="4261381"/>
            <a:ext cx="2800350" cy="1581150"/>
            <a:chOff x="4456286" y="4370918"/>
            <a:chExt cx="2800350" cy="1581150"/>
          </a:xfrm>
        </p:grpSpPr>
        <p:sp>
          <p:nvSpPr>
            <p:cNvPr id="3" name="object 32">
              <a:extLst>
                <a:ext uri="{FF2B5EF4-FFF2-40B4-BE49-F238E27FC236}">
                  <a16:creationId xmlns:a16="http://schemas.microsoft.com/office/drawing/2014/main" id="{FB100FD3-14F9-F404-72D3-AF6D959C66C5}"/>
                </a:ext>
              </a:extLst>
            </p:cNvPr>
            <p:cNvSpPr/>
            <p:nvPr/>
          </p:nvSpPr>
          <p:spPr>
            <a:xfrm>
              <a:off x="4456286" y="4370918"/>
              <a:ext cx="2800350" cy="1581150"/>
            </a:xfrm>
            <a:custGeom>
              <a:avLst/>
              <a:gdLst/>
              <a:ahLst/>
              <a:cxnLst/>
              <a:rect l="l" t="t" r="r" b="b"/>
              <a:pathLst>
                <a:path w="2800350" h="1581150">
                  <a:moveTo>
                    <a:pt x="0" y="1581150"/>
                  </a:moveTo>
                  <a:lnTo>
                    <a:pt x="2800350" y="1581150"/>
                  </a:lnTo>
                  <a:lnTo>
                    <a:pt x="2800350" y="0"/>
                  </a:lnTo>
                  <a:lnTo>
                    <a:pt x="0" y="0"/>
                  </a:lnTo>
                  <a:lnTo>
                    <a:pt x="0" y="158115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31">
              <a:extLst>
                <a:ext uri="{FF2B5EF4-FFF2-40B4-BE49-F238E27FC236}">
                  <a16:creationId xmlns:a16="http://schemas.microsoft.com/office/drawing/2014/main" id="{3F600E32-CE69-48C2-FA9C-97F00CCB0244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88061" y="4698007"/>
              <a:ext cx="2298700" cy="955611"/>
            </a:xfrm>
            <a:prstGeom prst="rect">
              <a:avLst/>
            </a:prstGeom>
          </p:spPr>
        </p:pic>
      </p:grpSp>
      <p:sp>
        <p:nvSpPr>
          <p:cNvPr id="24" name="object 36">
            <a:extLst>
              <a:ext uri="{FF2B5EF4-FFF2-40B4-BE49-F238E27FC236}">
                <a16:creationId xmlns:a16="http://schemas.microsoft.com/office/drawing/2014/main" id="{11351FA6-E870-0838-05A3-56A0797D3592}"/>
              </a:ext>
            </a:extLst>
          </p:cNvPr>
          <p:cNvSpPr txBox="1"/>
          <p:nvPr/>
        </p:nvSpPr>
        <p:spPr>
          <a:xfrm>
            <a:off x="8943084" y="5989320"/>
            <a:ext cx="1832991" cy="2142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1595"/>
              </a:lnSpc>
            </a:pPr>
            <a:r>
              <a:rPr sz="1600" dirty="0">
                <a:latin typeface="Avenir Book" panose="02000503020000020003" pitchFamily="2" charset="0"/>
                <a:cs typeface="Arial" panose="020B0604020202020204" pitchFamily="34" charset="0"/>
              </a:rPr>
              <a:t>Output</a:t>
            </a:r>
            <a:r>
              <a:rPr sz="1600" spc="125" dirty="0">
                <a:latin typeface="Avenir Book" panose="02000503020000020003" pitchFamily="2" charset="0"/>
                <a:cs typeface="Arial" panose="020B0604020202020204" pitchFamily="34" charset="0"/>
              </a:rPr>
              <a:t> </a:t>
            </a:r>
            <a:r>
              <a:rPr sz="1600" spc="-10" dirty="0">
                <a:latin typeface="Avenir Book" panose="02000503020000020003" pitchFamily="2" charset="0"/>
                <a:cs typeface="Arial" panose="020B0604020202020204" pitchFamily="34" charset="0"/>
              </a:rPr>
              <a:t>(Modeled)</a:t>
            </a:r>
            <a:endParaRPr sz="16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sp>
        <p:nvSpPr>
          <p:cNvPr id="25" name="object 37">
            <a:extLst>
              <a:ext uri="{FF2B5EF4-FFF2-40B4-BE49-F238E27FC236}">
                <a16:creationId xmlns:a16="http://schemas.microsoft.com/office/drawing/2014/main" id="{04070635-20CC-BCBB-ABE9-67FC6402932C}"/>
              </a:ext>
            </a:extLst>
          </p:cNvPr>
          <p:cNvSpPr txBox="1"/>
          <p:nvPr/>
        </p:nvSpPr>
        <p:spPr>
          <a:xfrm>
            <a:off x="1402581" y="5989320"/>
            <a:ext cx="2193942" cy="2123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1590"/>
              </a:lnSpc>
            </a:pPr>
            <a:r>
              <a:rPr sz="1600" dirty="0">
                <a:latin typeface="Avenir Book" panose="02000503020000020003" pitchFamily="2" charset="0"/>
                <a:cs typeface="Arial" panose="020B0604020202020204" pitchFamily="34" charset="0"/>
              </a:rPr>
              <a:t>Initial</a:t>
            </a:r>
            <a:r>
              <a:rPr sz="1600" spc="114" dirty="0">
                <a:latin typeface="Avenir Book" panose="02000503020000020003" pitchFamily="2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venir Book" panose="02000503020000020003" pitchFamily="2" charset="0"/>
                <a:cs typeface="Arial" panose="020B0604020202020204" pitchFamily="34" charset="0"/>
              </a:rPr>
              <a:t>Conditions</a:t>
            </a:r>
          </a:p>
        </p:txBody>
      </p:sp>
      <p:sp>
        <p:nvSpPr>
          <p:cNvPr id="26" name="object 38">
            <a:extLst>
              <a:ext uri="{FF2B5EF4-FFF2-40B4-BE49-F238E27FC236}">
                <a16:creationId xmlns:a16="http://schemas.microsoft.com/office/drawing/2014/main" id="{5BAE19E7-2AB2-B9E1-8E28-11C6804C77CF}"/>
              </a:ext>
            </a:extLst>
          </p:cNvPr>
          <p:cNvSpPr txBox="1"/>
          <p:nvPr/>
        </p:nvSpPr>
        <p:spPr>
          <a:xfrm>
            <a:off x="5198185" y="5986893"/>
            <a:ext cx="1832992" cy="2123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1590"/>
              </a:lnSpc>
            </a:pPr>
            <a:r>
              <a:rPr sz="1600" dirty="0">
                <a:latin typeface="Avenir Book" panose="02000503020000020003" pitchFamily="2" charset="0"/>
                <a:cs typeface="Arial" panose="020B0604020202020204" pitchFamily="34" charset="0"/>
              </a:rPr>
              <a:t>Surrogate</a:t>
            </a:r>
            <a:r>
              <a:rPr sz="1600" spc="90" dirty="0">
                <a:latin typeface="Avenir Book" panose="02000503020000020003" pitchFamily="2" charset="0"/>
                <a:cs typeface="Arial" panose="020B0604020202020204" pitchFamily="34" charset="0"/>
              </a:rPr>
              <a:t> </a:t>
            </a:r>
            <a:r>
              <a:rPr sz="1600" spc="-20" dirty="0">
                <a:latin typeface="Avenir Book" panose="02000503020000020003" pitchFamily="2" charset="0"/>
                <a:cs typeface="Arial" panose="020B0604020202020204" pitchFamily="34" charset="0"/>
              </a:rPr>
              <a:t>Model</a:t>
            </a:r>
            <a:endParaRPr sz="16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pic>
        <p:nvPicPr>
          <p:cNvPr id="47" name="dmd_single_traj_model">
            <a:hlinkClick r:id="" action="ppaction://media"/>
            <a:extLst>
              <a:ext uri="{FF2B5EF4-FFF2-40B4-BE49-F238E27FC236}">
                <a16:creationId xmlns:a16="http://schemas.microsoft.com/office/drawing/2014/main" id="{542EE360-F6E6-5346-AEA9-52B6464F6B0F}"/>
              </a:ext>
            </a:extLst>
          </p:cNvPr>
          <p:cNvPicPr>
            <a:picLocks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rcRect l="23853" t="15375" r="20477" b="11306"/>
          <a:stretch/>
        </p:blipFill>
        <p:spPr>
          <a:xfrm>
            <a:off x="9243868" y="4578864"/>
            <a:ext cx="1261872" cy="123444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53" name="Freeform 52">
            <a:extLst>
              <a:ext uri="{FF2B5EF4-FFF2-40B4-BE49-F238E27FC236}">
                <a16:creationId xmlns:a16="http://schemas.microsoft.com/office/drawing/2014/main" id="{D7F1DD8B-33A3-37B9-2078-EDF549414670}"/>
              </a:ext>
            </a:extLst>
          </p:cNvPr>
          <p:cNvSpPr/>
          <p:nvPr/>
        </p:nvSpPr>
        <p:spPr>
          <a:xfrm>
            <a:off x="3446505" y="5087957"/>
            <a:ext cx="914400" cy="12808"/>
          </a:xfrm>
          <a:custGeom>
            <a:avLst/>
            <a:gdLst>
              <a:gd name="csX0" fmla="*/ 0 w 914400"/>
              <a:gd name="csY0" fmla="*/ 281 h 12808"/>
              <a:gd name="csX1" fmla="*/ 87682 w 914400"/>
              <a:gd name="csY1" fmla="*/ 12808 h 12808"/>
              <a:gd name="csX2" fmla="*/ 789140 w 914400"/>
              <a:gd name="csY2" fmla="*/ 281 h 12808"/>
              <a:gd name="csX3" fmla="*/ 914400 w 914400"/>
              <a:gd name="csY3" fmla="*/ 281 h 128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14400" h="12808">
                <a:moveTo>
                  <a:pt x="0" y="281"/>
                </a:moveTo>
                <a:cubicBezTo>
                  <a:pt x="29227" y="4457"/>
                  <a:pt x="58158" y="12808"/>
                  <a:pt x="87682" y="12808"/>
                </a:cubicBezTo>
                <a:cubicBezTo>
                  <a:pt x="321539" y="12808"/>
                  <a:pt x="555310" y="3824"/>
                  <a:pt x="789140" y="281"/>
                </a:cubicBezTo>
                <a:cubicBezTo>
                  <a:pt x="830889" y="-352"/>
                  <a:pt x="872647" y="281"/>
                  <a:pt x="914400" y="281"/>
                </a:cubicBezTo>
              </a:path>
            </a:pathLst>
          </a:custGeom>
          <a:noFill/>
          <a:ln w="31750">
            <a:solidFill>
              <a:srgbClr val="646464"/>
            </a:solidFill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 53">
            <a:extLst>
              <a:ext uri="{FF2B5EF4-FFF2-40B4-BE49-F238E27FC236}">
                <a16:creationId xmlns:a16="http://schemas.microsoft.com/office/drawing/2014/main" id="{CFDE4ADE-ECC1-F321-E98E-C67445010290}"/>
              </a:ext>
            </a:extLst>
          </p:cNvPr>
          <p:cNvSpPr/>
          <p:nvPr/>
        </p:nvSpPr>
        <p:spPr>
          <a:xfrm>
            <a:off x="7733301" y="5046510"/>
            <a:ext cx="914400" cy="12808"/>
          </a:xfrm>
          <a:custGeom>
            <a:avLst/>
            <a:gdLst>
              <a:gd name="csX0" fmla="*/ 0 w 914400"/>
              <a:gd name="csY0" fmla="*/ 281 h 12808"/>
              <a:gd name="csX1" fmla="*/ 87682 w 914400"/>
              <a:gd name="csY1" fmla="*/ 12808 h 12808"/>
              <a:gd name="csX2" fmla="*/ 789140 w 914400"/>
              <a:gd name="csY2" fmla="*/ 281 h 12808"/>
              <a:gd name="csX3" fmla="*/ 914400 w 914400"/>
              <a:gd name="csY3" fmla="*/ 281 h 128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14400" h="12808">
                <a:moveTo>
                  <a:pt x="0" y="281"/>
                </a:moveTo>
                <a:cubicBezTo>
                  <a:pt x="29227" y="4457"/>
                  <a:pt x="58158" y="12808"/>
                  <a:pt x="87682" y="12808"/>
                </a:cubicBezTo>
                <a:cubicBezTo>
                  <a:pt x="321539" y="12808"/>
                  <a:pt x="555310" y="3824"/>
                  <a:pt x="789140" y="281"/>
                </a:cubicBezTo>
                <a:cubicBezTo>
                  <a:pt x="830889" y="-352"/>
                  <a:pt x="872647" y="281"/>
                  <a:pt x="914400" y="281"/>
                </a:cubicBezTo>
              </a:path>
            </a:pathLst>
          </a:custGeom>
          <a:noFill/>
          <a:ln w="31750">
            <a:solidFill>
              <a:srgbClr val="646464"/>
            </a:solidFill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920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16" fill="hold"/>
                                        <p:tgtEl>
                                          <p:spTgt spid="4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47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74A70-CA9D-E0FD-17CB-2A8FD1ED3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E114AE4-3DBD-3759-09D3-660B3DFF1D83}"/>
              </a:ext>
            </a:extLst>
          </p:cNvPr>
          <p:cNvCxnSpPr/>
          <p:nvPr/>
        </p:nvCxnSpPr>
        <p:spPr>
          <a:xfrm>
            <a:off x="914400" y="1071563"/>
            <a:ext cx="10086975" cy="0"/>
          </a:xfrm>
          <a:prstGeom prst="line">
            <a:avLst/>
          </a:prstGeom>
          <a:ln w="22225">
            <a:solidFill>
              <a:srgbClr val="7F9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63BFCEA-8891-F3E6-3FE9-5734B3B35E57}"/>
              </a:ext>
            </a:extLst>
          </p:cNvPr>
          <p:cNvSpPr txBox="1"/>
          <p:nvPr/>
        </p:nvSpPr>
        <p:spPr>
          <a:xfrm>
            <a:off x="914399" y="494912"/>
            <a:ext cx="93297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venir Light" panose="020B0402020203020204" pitchFamily="34" charset="77"/>
              </a:rPr>
              <a:t>What does surrogate modeling look like on TACC systems?</a:t>
            </a:r>
          </a:p>
        </p:txBody>
      </p:sp>
      <p:sp>
        <p:nvSpPr>
          <p:cNvPr id="1032" name="Slide Number Placeholder 1031">
            <a:extLst>
              <a:ext uri="{FF2B5EF4-FFF2-40B4-BE49-F238E27FC236}">
                <a16:creationId xmlns:a16="http://schemas.microsoft.com/office/drawing/2014/main" id="{DEAEF19E-8CE3-09E2-0407-D85EFF0F9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78B8C-3A5C-324B-A3F5-C0AF7DCE0B23}" type="slidenum">
              <a:rPr lang="en-US" smtClean="0"/>
              <a:t>5</a:t>
            </a:fld>
            <a:endParaRPr lang="en-US" dirty="0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8BE35F0F-A588-C39D-88A7-7FF3EFADEA61}"/>
              </a:ext>
            </a:extLst>
          </p:cNvPr>
          <p:cNvSpPr txBox="1"/>
          <p:nvPr/>
        </p:nvSpPr>
        <p:spPr>
          <a:xfrm>
            <a:off x="1645694" y="1505189"/>
            <a:ext cx="2503906" cy="26225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latin typeface="Avenir Book" panose="02000503020000020003" pitchFamily="2" charset="0"/>
                <a:cs typeface="Arial" panose="020B0604020202020204" pitchFamily="34" charset="0"/>
              </a:rPr>
              <a:t>Initial</a:t>
            </a:r>
            <a:r>
              <a:rPr sz="1600" spc="75" dirty="0">
                <a:latin typeface="Avenir Book" panose="02000503020000020003" pitchFamily="2" charset="0"/>
                <a:cs typeface="Arial" panose="020B0604020202020204" pitchFamily="34" charset="0"/>
              </a:rPr>
              <a:t> </a:t>
            </a:r>
            <a:r>
              <a:rPr sz="1600" spc="-10" dirty="0">
                <a:latin typeface="Avenir Book" panose="02000503020000020003" pitchFamily="2" charset="0"/>
                <a:cs typeface="Arial" panose="020B0604020202020204" pitchFamily="34" charset="0"/>
              </a:rPr>
              <a:t>Conditions</a:t>
            </a:r>
            <a:endParaRPr sz="16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B488EA6B-D9FC-F5BF-2765-5675118486AE}"/>
              </a:ext>
            </a:extLst>
          </p:cNvPr>
          <p:cNvSpPr txBox="1"/>
          <p:nvPr/>
        </p:nvSpPr>
        <p:spPr>
          <a:xfrm>
            <a:off x="4623878" y="1520291"/>
            <a:ext cx="3019706" cy="26225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latin typeface="Avenir Book" panose="02000503020000020003" pitchFamily="2" charset="0"/>
                <a:cs typeface="Arial" panose="020B0604020202020204" pitchFamily="34" charset="0"/>
              </a:rPr>
              <a:t>Solve</a:t>
            </a:r>
            <a:r>
              <a:rPr sz="1600" spc="114" dirty="0">
                <a:latin typeface="Avenir Book" panose="02000503020000020003" pitchFamily="2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venir Book" panose="02000503020000020003" pitchFamily="2" charset="0"/>
                <a:cs typeface="Arial" panose="020B0604020202020204" pitchFamily="34" charset="0"/>
              </a:rPr>
              <a:t>the</a:t>
            </a:r>
            <a:r>
              <a:rPr sz="1600" spc="114" dirty="0">
                <a:latin typeface="Avenir Book" panose="02000503020000020003" pitchFamily="2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venir Book" panose="02000503020000020003" pitchFamily="2" charset="0"/>
                <a:cs typeface="Arial" panose="020B0604020202020204" pitchFamily="34" charset="0"/>
              </a:rPr>
              <a:t>Governing</a:t>
            </a:r>
            <a:r>
              <a:rPr sz="1600" spc="80" dirty="0">
                <a:latin typeface="Avenir Book" panose="02000503020000020003" pitchFamily="2" charset="0"/>
                <a:cs typeface="Arial" panose="020B0604020202020204" pitchFamily="34" charset="0"/>
              </a:rPr>
              <a:t> </a:t>
            </a:r>
            <a:r>
              <a:rPr sz="1600" spc="-10" dirty="0">
                <a:latin typeface="Avenir Book" panose="02000503020000020003" pitchFamily="2" charset="0"/>
                <a:cs typeface="Arial" panose="020B0604020202020204" pitchFamily="34" charset="0"/>
              </a:rPr>
              <a:t>Equations</a:t>
            </a:r>
            <a:endParaRPr sz="16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D6415942-BC90-C295-527A-3B82CC56B51C}"/>
              </a:ext>
            </a:extLst>
          </p:cNvPr>
          <p:cNvSpPr txBox="1"/>
          <p:nvPr/>
        </p:nvSpPr>
        <p:spPr>
          <a:xfrm>
            <a:off x="9415841" y="1488495"/>
            <a:ext cx="932244" cy="26225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00" spc="-10" dirty="0">
                <a:latin typeface="Avenir Book" panose="02000503020000020003" pitchFamily="2" charset="0"/>
                <a:cs typeface="Arial" panose="020B0604020202020204" pitchFamily="34" charset="0"/>
              </a:rPr>
              <a:t>Output</a:t>
            </a:r>
            <a:endParaRPr sz="16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pic>
        <p:nvPicPr>
          <p:cNvPr id="13" name="object 7">
            <a:extLst>
              <a:ext uri="{FF2B5EF4-FFF2-40B4-BE49-F238E27FC236}">
                <a16:creationId xmlns:a16="http://schemas.microsoft.com/office/drawing/2014/main" id="{6389C75B-9591-AADC-3526-5D5B7B53DDCB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46229" y="1857375"/>
            <a:ext cx="1247775" cy="1228725"/>
          </a:xfrm>
          <a:prstGeom prst="rect">
            <a:avLst/>
          </a:prstGeom>
        </p:spPr>
      </p:pic>
      <p:pic>
        <p:nvPicPr>
          <p:cNvPr id="16" name="object 8">
            <a:extLst>
              <a:ext uri="{FF2B5EF4-FFF2-40B4-BE49-F238E27FC236}">
                <a16:creationId xmlns:a16="http://schemas.microsoft.com/office/drawing/2014/main" id="{20E6437C-5E8C-95D5-8E6C-42907FE0B05C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98629" y="2009775"/>
            <a:ext cx="1247775" cy="1228725"/>
          </a:xfrm>
          <a:prstGeom prst="rect">
            <a:avLst/>
          </a:prstGeom>
        </p:spPr>
      </p:pic>
      <p:sp>
        <p:nvSpPr>
          <p:cNvPr id="18" name="object 9">
            <a:extLst>
              <a:ext uri="{FF2B5EF4-FFF2-40B4-BE49-F238E27FC236}">
                <a16:creationId xmlns:a16="http://schemas.microsoft.com/office/drawing/2014/main" id="{46BF51C0-CC8D-9E0F-880C-14DC5964DEDF}"/>
              </a:ext>
            </a:extLst>
          </p:cNvPr>
          <p:cNvSpPr/>
          <p:nvPr/>
        </p:nvSpPr>
        <p:spPr>
          <a:xfrm>
            <a:off x="1893930" y="2004948"/>
            <a:ext cx="1257300" cy="1238250"/>
          </a:xfrm>
          <a:custGeom>
            <a:avLst/>
            <a:gdLst/>
            <a:ahLst/>
            <a:cxnLst/>
            <a:rect l="l" t="t" r="r" b="b"/>
            <a:pathLst>
              <a:path w="1257300" h="1238250">
                <a:moveTo>
                  <a:pt x="0" y="1238250"/>
                </a:moveTo>
                <a:lnTo>
                  <a:pt x="1257300" y="1238250"/>
                </a:lnTo>
                <a:lnTo>
                  <a:pt x="1257300" y="0"/>
                </a:lnTo>
                <a:lnTo>
                  <a:pt x="0" y="0"/>
                </a:lnTo>
                <a:lnTo>
                  <a:pt x="0" y="123825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object 10">
            <a:extLst>
              <a:ext uri="{FF2B5EF4-FFF2-40B4-BE49-F238E27FC236}">
                <a16:creationId xmlns:a16="http://schemas.microsoft.com/office/drawing/2014/main" id="{8D027AFF-C312-8DAD-2BB3-7837503E2DD8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51029" y="2162175"/>
            <a:ext cx="1247775" cy="1228725"/>
          </a:xfrm>
          <a:prstGeom prst="rect">
            <a:avLst/>
          </a:prstGeom>
        </p:spPr>
      </p:pic>
      <p:sp>
        <p:nvSpPr>
          <p:cNvPr id="35" name="object 11">
            <a:extLst>
              <a:ext uri="{FF2B5EF4-FFF2-40B4-BE49-F238E27FC236}">
                <a16:creationId xmlns:a16="http://schemas.microsoft.com/office/drawing/2014/main" id="{DE0585B3-1C78-0A1A-FB25-9786C44B6FC8}"/>
              </a:ext>
            </a:extLst>
          </p:cNvPr>
          <p:cNvSpPr/>
          <p:nvPr/>
        </p:nvSpPr>
        <p:spPr>
          <a:xfrm>
            <a:off x="2046329" y="2157349"/>
            <a:ext cx="1257300" cy="1238250"/>
          </a:xfrm>
          <a:custGeom>
            <a:avLst/>
            <a:gdLst/>
            <a:ahLst/>
            <a:cxnLst/>
            <a:rect l="l" t="t" r="r" b="b"/>
            <a:pathLst>
              <a:path w="1257300" h="1238250">
                <a:moveTo>
                  <a:pt x="0" y="1238250"/>
                </a:moveTo>
                <a:lnTo>
                  <a:pt x="1257300" y="1238250"/>
                </a:lnTo>
                <a:lnTo>
                  <a:pt x="1257300" y="0"/>
                </a:lnTo>
                <a:lnTo>
                  <a:pt x="0" y="0"/>
                </a:lnTo>
                <a:lnTo>
                  <a:pt x="0" y="123825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6" name="object 12">
            <a:extLst>
              <a:ext uri="{FF2B5EF4-FFF2-40B4-BE49-F238E27FC236}">
                <a16:creationId xmlns:a16="http://schemas.microsoft.com/office/drawing/2014/main" id="{01E9EC28-FF90-E392-45AF-5240879A2287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33556" y="1857375"/>
            <a:ext cx="2800350" cy="1571625"/>
          </a:xfrm>
          <a:prstGeom prst="rect">
            <a:avLst/>
          </a:prstGeom>
        </p:spPr>
      </p:pic>
      <p:pic>
        <p:nvPicPr>
          <p:cNvPr id="37" name="object 13">
            <a:extLst>
              <a:ext uri="{FF2B5EF4-FFF2-40B4-BE49-F238E27FC236}">
                <a16:creationId xmlns:a16="http://schemas.microsoft.com/office/drawing/2014/main" id="{80B5B503-5B9C-06F0-9DA0-317E0DC9CBD3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43084" y="1847850"/>
            <a:ext cx="1257300" cy="1228725"/>
          </a:xfrm>
          <a:prstGeom prst="rect">
            <a:avLst/>
          </a:prstGeom>
        </p:spPr>
      </p:pic>
      <p:pic>
        <p:nvPicPr>
          <p:cNvPr id="41" name="object 14">
            <a:extLst>
              <a:ext uri="{FF2B5EF4-FFF2-40B4-BE49-F238E27FC236}">
                <a16:creationId xmlns:a16="http://schemas.microsoft.com/office/drawing/2014/main" id="{6C59B601-EB84-C34B-229A-4321EC96057C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95484" y="2000250"/>
            <a:ext cx="1257300" cy="1228725"/>
          </a:xfrm>
          <a:prstGeom prst="rect">
            <a:avLst/>
          </a:prstGeom>
        </p:spPr>
      </p:pic>
      <p:sp>
        <p:nvSpPr>
          <p:cNvPr id="42" name="object 15">
            <a:extLst>
              <a:ext uri="{FF2B5EF4-FFF2-40B4-BE49-F238E27FC236}">
                <a16:creationId xmlns:a16="http://schemas.microsoft.com/office/drawing/2014/main" id="{70238DED-18E1-3A5D-B9A1-58ABAACCB2EF}"/>
              </a:ext>
            </a:extLst>
          </p:cNvPr>
          <p:cNvSpPr/>
          <p:nvPr/>
        </p:nvSpPr>
        <p:spPr>
          <a:xfrm>
            <a:off x="9090785" y="1995423"/>
            <a:ext cx="1266825" cy="1238250"/>
          </a:xfrm>
          <a:custGeom>
            <a:avLst/>
            <a:gdLst/>
            <a:ahLst/>
            <a:cxnLst/>
            <a:rect l="l" t="t" r="r" b="b"/>
            <a:pathLst>
              <a:path w="1266825" h="1238250">
                <a:moveTo>
                  <a:pt x="0" y="1238250"/>
                </a:moveTo>
                <a:lnTo>
                  <a:pt x="1266825" y="1238250"/>
                </a:lnTo>
                <a:lnTo>
                  <a:pt x="1266825" y="0"/>
                </a:lnTo>
                <a:lnTo>
                  <a:pt x="0" y="0"/>
                </a:lnTo>
                <a:lnTo>
                  <a:pt x="0" y="123825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17">
            <a:extLst>
              <a:ext uri="{FF2B5EF4-FFF2-40B4-BE49-F238E27FC236}">
                <a16:creationId xmlns:a16="http://schemas.microsoft.com/office/drawing/2014/main" id="{FA6A7C61-50DD-C2EF-A5D8-F545304B3525}"/>
              </a:ext>
            </a:extLst>
          </p:cNvPr>
          <p:cNvSpPr/>
          <p:nvPr/>
        </p:nvSpPr>
        <p:spPr>
          <a:xfrm>
            <a:off x="9243185" y="2147824"/>
            <a:ext cx="1266825" cy="1238250"/>
          </a:xfrm>
          <a:custGeom>
            <a:avLst/>
            <a:gdLst/>
            <a:ahLst/>
            <a:cxnLst/>
            <a:rect l="l" t="t" r="r" b="b"/>
            <a:pathLst>
              <a:path w="1266825" h="1238250">
                <a:moveTo>
                  <a:pt x="0" y="1238250"/>
                </a:moveTo>
                <a:lnTo>
                  <a:pt x="1266825" y="1238250"/>
                </a:lnTo>
                <a:lnTo>
                  <a:pt x="1266825" y="0"/>
                </a:lnTo>
                <a:lnTo>
                  <a:pt x="0" y="0"/>
                </a:lnTo>
                <a:lnTo>
                  <a:pt x="0" y="123825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4" name="Picture 43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4C2BB6B6-1687-10E7-881D-C7EDE1510F9F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49027" y="2156079"/>
            <a:ext cx="1261872" cy="1225296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45" name="Freeform 44">
            <a:extLst>
              <a:ext uri="{FF2B5EF4-FFF2-40B4-BE49-F238E27FC236}">
                <a16:creationId xmlns:a16="http://schemas.microsoft.com/office/drawing/2014/main" id="{193A33F1-CA1B-79ED-4F00-F894A49BA756}"/>
              </a:ext>
            </a:extLst>
          </p:cNvPr>
          <p:cNvSpPr/>
          <p:nvPr/>
        </p:nvSpPr>
        <p:spPr>
          <a:xfrm>
            <a:off x="3446505" y="2643187"/>
            <a:ext cx="914400" cy="12808"/>
          </a:xfrm>
          <a:custGeom>
            <a:avLst/>
            <a:gdLst>
              <a:gd name="csX0" fmla="*/ 0 w 914400"/>
              <a:gd name="csY0" fmla="*/ 281 h 12808"/>
              <a:gd name="csX1" fmla="*/ 87682 w 914400"/>
              <a:gd name="csY1" fmla="*/ 12808 h 12808"/>
              <a:gd name="csX2" fmla="*/ 789140 w 914400"/>
              <a:gd name="csY2" fmla="*/ 281 h 12808"/>
              <a:gd name="csX3" fmla="*/ 914400 w 914400"/>
              <a:gd name="csY3" fmla="*/ 281 h 128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14400" h="12808">
                <a:moveTo>
                  <a:pt x="0" y="281"/>
                </a:moveTo>
                <a:cubicBezTo>
                  <a:pt x="29227" y="4457"/>
                  <a:pt x="58158" y="12808"/>
                  <a:pt x="87682" y="12808"/>
                </a:cubicBezTo>
                <a:cubicBezTo>
                  <a:pt x="321539" y="12808"/>
                  <a:pt x="555310" y="3824"/>
                  <a:pt x="789140" y="281"/>
                </a:cubicBezTo>
                <a:cubicBezTo>
                  <a:pt x="830889" y="-352"/>
                  <a:pt x="872647" y="281"/>
                  <a:pt x="914400" y="281"/>
                </a:cubicBezTo>
              </a:path>
            </a:pathLst>
          </a:custGeom>
          <a:noFill/>
          <a:ln w="31750">
            <a:solidFill>
              <a:srgbClr val="646464"/>
            </a:solidFill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0EB3860D-235B-2877-0F59-136222F79FE8}"/>
              </a:ext>
            </a:extLst>
          </p:cNvPr>
          <p:cNvSpPr/>
          <p:nvPr/>
        </p:nvSpPr>
        <p:spPr>
          <a:xfrm>
            <a:off x="7733301" y="2601740"/>
            <a:ext cx="914400" cy="12808"/>
          </a:xfrm>
          <a:custGeom>
            <a:avLst/>
            <a:gdLst>
              <a:gd name="csX0" fmla="*/ 0 w 914400"/>
              <a:gd name="csY0" fmla="*/ 281 h 12808"/>
              <a:gd name="csX1" fmla="*/ 87682 w 914400"/>
              <a:gd name="csY1" fmla="*/ 12808 h 12808"/>
              <a:gd name="csX2" fmla="*/ 789140 w 914400"/>
              <a:gd name="csY2" fmla="*/ 281 h 12808"/>
              <a:gd name="csX3" fmla="*/ 914400 w 914400"/>
              <a:gd name="csY3" fmla="*/ 281 h 128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14400" h="12808">
                <a:moveTo>
                  <a:pt x="0" y="281"/>
                </a:moveTo>
                <a:cubicBezTo>
                  <a:pt x="29227" y="4457"/>
                  <a:pt x="58158" y="12808"/>
                  <a:pt x="87682" y="12808"/>
                </a:cubicBezTo>
                <a:cubicBezTo>
                  <a:pt x="321539" y="12808"/>
                  <a:pt x="555310" y="3824"/>
                  <a:pt x="789140" y="281"/>
                </a:cubicBezTo>
                <a:cubicBezTo>
                  <a:pt x="830889" y="-352"/>
                  <a:pt x="872647" y="281"/>
                  <a:pt x="914400" y="281"/>
                </a:cubicBezTo>
              </a:path>
            </a:pathLst>
          </a:custGeom>
          <a:noFill/>
          <a:ln w="31750">
            <a:solidFill>
              <a:srgbClr val="646464"/>
            </a:solidFill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object 19">
            <a:extLst>
              <a:ext uri="{FF2B5EF4-FFF2-40B4-BE49-F238E27FC236}">
                <a16:creationId xmlns:a16="http://schemas.microsoft.com/office/drawing/2014/main" id="{876AAE46-1C73-3A51-6AEB-728D8E0B321F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731879" y="4222868"/>
            <a:ext cx="1247775" cy="1228725"/>
          </a:xfrm>
          <a:prstGeom prst="rect">
            <a:avLst/>
          </a:prstGeom>
        </p:spPr>
      </p:pic>
      <p:pic>
        <p:nvPicPr>
          <p:cNvPr id="10" name="object 20">
            <a:extLst>
              <a:ext uri="{FF2B5EF4-FFF2-40B4-BE49-F238E27FC236}">
                <a16:creationId xmlns:a16="http://schemas.microsoft.com/office/drawing/2014/main" id="{E923B459-29B2-E451-0459-6D4664F24AA6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884279" y="4375268"/>
            <a:ext cx="1247775" cy="1228725"/>
          </a:xfrm>
          <a:prstGeom prst="rect">
            <a:avLst/>
          </a:prstGeom>
        </p:spPr>
      </p:pic>
      <p:sp>
        <p:nvSpPr>
          <p:cNvPr id="11" name="object 21">
            <a:extLst>
              <a:ext uri="{FF2B5EF4-FFF2-40B4-BE49-F238E27FC236}">
                <a16:creationId xmlns:a16="http://schemas.microsoft.com/office/drawing/2014/main" id="{1728C5E2-B59C-4017-3486-4B69459094F3}"/>
              </a:ext>
            </a:extLst>
          </p:cNvPr>
          <p:cNvSpPr/>
          <p:nvPr/>
        </p:nvSpPr>
        <p:spPr>
          <a:xfrm>
            <a:off x="1879580" y="4370505"/>
            <a:ext cx="1257300" cy="1238250"/>
          </a:xfrm>
          <a:custGeom>
            <a:avLst/>
            <a:gdLst/>
            <a:ahLst/>
            <a:cxnLst/>
            <a:rect l="l" t="t" r="r" b="b"/>
            <a:pathLst>
              <a:path w="1257300" h="1238250">
                <a:moveTo>
                  <a:pt x="0" y="1238250"/>
                </a:moveTo>
                <a:lnTo>
                  <a:pt x="1257300" y="1238250"/>
                </a:lnTo>
                <a:lnTo>
                  <a:pt x="1257300" y="0"/>
                </a:lnTo>
                <a:lnTo>
                  <a:pt x="0" y="0"/>
                </a:lnTo>
                <a:lnTo>
                  <a:pt x="0" y="123825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22">
            <a:extLst>
              <a:ext uri="{FF2B5EF4-FFF2-40B4-BE49-F238E27FC236}">
                <a16:creationId xmlns:a16="http://schemas.microsoft.com/office/drawing/2014/main" id="{50D7C47F-EF5F-E4A0-82CE-4CE434124C07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036679" y="4527668"/>
            <a:ext cx="1257300" cy="1228725"/>
          </a:xfrm>
          <a:prstGeom prst="rect">
            <a:avLst/>
          </a:prstGeom>
        </p:spPr>
      </p:pic>
      <p:sp>
        <p:nvSpPr>
          <p:cNvPr id="14" name="object 23">
            <a:extLst>
              <a:ext uri="{FF2B5EF4-FFF2-40B4-BE49-F238E27FC236}">
                <a16:creationId xmlns:a16="http://schemas.microsoft.com/office/drawing/2014/main" id="{A04C0845-15D4-9DCA-CE35-6C1D4F25FEBB}"/>
              </a:ext>
            </a:extLst>
          </p:cNvPr>
          <p:cNvSpPr/>
          <p:nvPr/>
        </p:nvSpPr>
        <p:spPr>
          <a:xfrm>
            <a:off x="2031979" y="4522905"/>
            <a:ext cx="1266825" cy="1238250"/>
          </a:xfrm>
          <a:custGeom>
            <a:avLst/>
            <a:gdLst/>
            <a:ahLst/>
            <a:cxnLst/>
            <a:rect l="l" t="t" r="r" b="b"/>
            <a:pathLst>
              <a:path w="1266825" h="1238250">
                <a:moveTo>
                  <a:pt x="0" y="1238250"/>
                </a:moveTo>
                <a:lnTo>
                  <a:pt x="1266825" y="1238250"/>
                </a:lnTo>
                <a:lnTo>
                  <a:pt x="1266825" y="0"/>
                </a:lnTo>
                <a:lnTo>
                  <a:pt x="0" y="0"/>
                </a:lnTo>
                <a:lnTo>
                  <a:pt x="0" y="123825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25">
            <a:extLst>
              <a:ext uri="{FF2B5EF4-FFF2-40B4-BE49-F238E27FC236}">
                <a16:creationId xmlns:a16="http://schemas.microsoft.com/office/drawing/2014/main" id="{7406353F-FDC2-560F-B12C-02CC070EF6CF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947069" y="4261110"/>
            <a:ext cx="1257300" cy="1238250"/>
          </a:xfrm>
          <a:prstGeom prst="rect">
            <a:avLst/>
          </a:prstGeom>
        </p:spPr>
      </p:pic>
      <p:pic>
        <p:nvPicPr>
          <p:cNvPr id="17" name="object 26">
            <a:extLst>
              <a:ext uri="{FF2B5EF4-FFF2-40B4-BE49-F238E27FC236}">
                <a16:creationId xmlns:a16="http://schemas.microsoft.com/office/drawing/2014/main" id="{16FCF214-8BDB-A1A6-9227-4B962DD23FF5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099469" y="4413510"/>
            <a:ext cx="1257300" cy="1238250"/>
          </a:xfrm>
          <a:prstGeom prst="rect">
            <a:avLst/>
          </a:prstGeom>
        </p:spPr>
      </p:pic>
      <p:sp>
        <p:nvSpPr>
          <p:cNvPr id="20" name="object 27">
            <a:extLst>
              <a:ext uri="{FF2B5EF4-FFF2-40B4-BE49-F238E27FC236}">
                <a16:creationId xmlns:a16="http://schemas.microsoft.com/office/drawing/2014/main" id="{CE18A694-2F62-B6EC-394D-625D4D81A674}"/>
              </a:ext>
            </a:extLst>
          </p:cNvPr>
          <p:cNvSpPr/>
          <p:nvPr/>
        </p:nvSpPr>
        <p:spPr>
          <a:xfrm>
            <a:off x="9094770" y="4408747"/>
            <a:ext cx="1266825" cy="1247775"/>
          </a:xfrm>
          <a:custGeom>
            <a:avLst/>
            <a:gdLst/>
            <a:ahLst/>
            <a:cxnLst/>
            <a:rect l="l" t="t" r="r" b="b"/>
            <a:pathLst>
              <a:path w="1266825" h="1247775">
                <a:moveTo>
                  <a:pt x="0" y="1247775"/>
                </a:moveTo>
                <a:lnTo>
                  <a:pt x="1266825" y="1247775"/>
                </a:lnTo>
                <a:lnTo>
                  <a:pt x="1266825" y="0"/>
                </a:lnTo>
                <a:lnTo>
                  <a:pt x="0" y="0"/>
                </a:lnTo>
                <a:lnTo>
                  <a:pt x="0" y="1247775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9">
            <a:extLst>
              <a:ext uri="{FF2B5EF4-FFF2-40B4-BE49-F238E27FC236}">
                <a16:creationId xmlns:a16="http://schemas.microsoft.com/office/drawing/2014/main" id="{8DD26264-BE29-764C-07AC-4F8EFC1E6DC0}"/>
              </a:ext>
            </a:extLst>
          </p:cNvPr>
          <p:cNvSpPr/>
          <p:nvPr/>
        </p:nvSpPr>
        <p:spPr>
          <a:xfrm>
            <a:off x="9247170" y="4561147"/>
            <a:ext cx="1266825" cy="1247775"/>
          </a:xfrm>
          <a:custGeom>
            <a:avLst/>
            <a:gdLst/>
            <a:ahLst/>
            <a:cxnLst/>
            <a:rect l="l" t="t" r="r" b="b"/>
            <a:pathLst>
              <a:path w="1266825" h="1247775">
                <a:moveTo>
                  <a:pt x="0" y="1247775"/>
                </a:moveTo>
                <a:lnTo>
                  <a:pt x="1266825" y="1247775"/>
                </a:lnTo>
                <a:lnTo>
                  <a:pt x="1266825" y="0"/>
                </a:lnTo>
                <a:lnTo>
                  <a:pt x="0" y="0"/>
                </a:lnTo>
                <a:lnTo>
                  <a:pt x="0" y="1247775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A8F2B25-F0F6-C0CD-9599-07ABD483E4C9}"/>
              </a:ext>
            </a:extLst>
          </p:cNvPr>
          <p:cNvGrpSpPr/>
          <p:nvPr/>
        </p:nvGrpSpPr>
        <p:grpSpPr>
          <a:xfrm>
            <a:off x="4733556" y="4261381"/>
            <a:ext cx="2800350" cy="1581150"/>
            <a:chOff x="4456286" y="4370918"/>
            <a:chExt cx="2800350" cy="1581150"/>
          </a:xfrm>
        </p:grpSpPr>
        <p:sp>
          <p:nvSpPr>
            <p:cNvPr id="3" name="object 32">
              <a:extLst>
                <a:ext uri="{FF2B5EF4-FFF2-40B4-BE49-F238E27FC236}">
                  <a16:creationId xmlns:a16="http://schemas.microsoft.com/office/drawing/2014/main" id="{9DA4977D-8437-48F1-B10B-3D44BAE270C8}"/>
                </a:ext>
              </a:extLst>
            </p:cNvPr>
            <p:cNvSpPr/>
            <p:nvPr/>
          </p:nvSpPr>
          <p:spPr>
            <a:xfrm>
              <a:off x="4456286" y="4370918"/>
              <a:ext cx="2800350" cy="1581150"/>
            </a:xfrm>
            <a:custGeom>
              <a:avLst/>
              <a:gdLst/>
              <a:ahLst/>
              <a:cxnLst/>
              <a:rect l="l" t="t" r="r" b="b"/>
              <a:pathLst>
                <a:path w="2800350" h="1581150">
                  <a:moveTo>
                    <a:pt x="0" y="1581150"/>
                  </a:moveTo>
                  <a:lnTo>
                    <a:pt x="2800350" y="1581150"/>
                  </a:lnTo>
                  <a:lnTo>
                    <a:pt x="2800350" y="0"/>
                  </a:lnTo>
                  <a:lnTo>
                    <a:pt x="0" y="0"/>
                  </a:lnTo>
                  <a:lnTo>
                    <a:pt x="0" y="158115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31">
              <a:extLst>
                <a:ext uri="{FF2B5EF4-FFF2-40B4-BE49-F238E27FC236}">
                  <a16:creationId xmlns:a16="http://schemas.microsoft.com/office/drawing/2014/main" id="{D9CD6D09-2B6E-7B01-38BC-A3342FD5C91D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88061" y="4698007"/>
              <a:ext cx="2298700" cy="955611"/>
            </a:xfrm>
            <a:prstGeom prst="rect">
              <a:avLst/>
            </a:prstGeom>
          </p:spPr>
        </p:pic>
      </p:grpSp>
      <p:sp>
        <p:nvSpPr>
          <p:cNvPr id="24" name="object 36">
            <a:extLst>
              <a:ext uri="{FF2B5EF4-FFF2-40B4-BE49-F238E27FC236}">
                <a16:creationId xmlns:a16="http://schemas.microsoft.com/office/drawing/2014/main" id="{638F6BFC-799C-CFA7-E38F-99816EE5DF13}"/>
              </a:ext>
            </a:extLst>
          </p:cNvPr>
          <p:cNvSpPr txBox="1"/>
          <p:nvPr/>
        </p:nvSpPr>
        <p:spPr>
          <a:xfrm>
            <a:off x="8943084" y="5989320"/>
            <a:ext cx="1832991" cy="2142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1595"/>
              </a:lnSpc>
            </a:pPr>
            <a:r>
              <a:rPr sz="1600" dirty="0">
                <a:latin typeface="Avenir Book" panose="02000503020000020003" pitchFamily="2" charset="0"/>
                <a:cs typeface="Arial" panose="020B0604020202020204" pitchFamily="34" charset="0"/>
              </a:rPr>
              <a:t>Output</a:t>
            </a:r>
            <a:r>
              <a:rPr sz="1600" spc="125" dirty="0">
                <a:latin typeface="Avenir Book" panose="02000503020000020003" pitchFamily="2" charset="0"/>
                <a:cs typeface="Arial" panose="020B0604020202020204" pitchFamily="34" charset="0"/>
              </a:rPr>
              <a:t> </a:t>
            </a:r>
            <a:r>
              <a:rPr sz="1600" spc="-10" dirty="0">
                <a:latin typeface="Avenir Book" panose="02000503020000020003" pitchFamily="2" charset="0"/>
                <a:cs typeface="Arial" panose="020B0604020202020204" pitchFamily="34" charset="0"/>
              </a:rPr>
              <a:t>(Modeled)</a:t>
            </a:r>
            <a:endParaRPr sz="16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sp>
        <p:nvSpPr>
          <p:cNvPr id="25" name="object 37">
            <a:extLst>
              <a:ext uri="{FF2B5EF4-FFF2-40B4-BE49-F238E27FC236}">
                <a16:creationId xmlns:a16="http://schemas.microsoft.com/office/drawing/2014/main" id="{BA788A87-A4BE-98A2-14EB-456F24F5F0AE}"/>
              </a:ext>
            </a:extLst>
          </p:cNvPr>
          <p:cNvSpPr txBox="1"/>
          <p:nvPr/>
        </p:nvSpPr>
        <p:spPr>
          <a:xfrm>
            <a:off x="1402581" y="5989320"/>
            <a:ext cx="2193942" cy="2123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1590"/>
              </a:lnSpc>
            </a:pPr>
            <a:r>
              <a:rPr sz="1600" dirty="0">
                <a:latin typeface="Avenir Book" panose="02000503020000020003" pitchFamily="2" charset="0"/>
                <a:cs typeface="Arial" panose="020B0604020202020204" pitchFamily="34" charset="0"/>
              </a:rPr>
              <a:t>Initial</a:t>
            </a:r>
            <a:r>
              <a:rPr sz="1600" spc="114" dirty="0">
                <a:latin typeface="Avenir Book" panose="02000503020000020003" pitchFamily="2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venir Book" panose="02000503020000020003" pitchFamily="2" charset="0"/>
                <a:cs typeface="Arial" panose="020B0604020202020204" pitchFamily="34" charset="0"/>
              </a:rPr>
              <a:t>Conditions</a:t>
            </a:r>
          </a:p>
        </p:txBody>
      </p:sp>
      <p:sp>
        <p:nvSpPr>
          <p:cNvPr id="26" name="object 38">
            <a:extLst>
              <a:ext uri="{FF2B5EF4-FFF2-40B4-BE49-F238E27FC236}">
                <a16:creationId xmlns:a16="http://schemas.microsoft.com/office/drawing/2014/main" id="{21423177-F5FD-A8FE-5A88-1969F36E89B8}"/>
              </a:ext>
            </a:extLst>
          </p:cNvPr>
          <p:cNvSpPr txBox="1"/>
          <p:nvPr/>
        </p:nvSpPr>
        <p:spPr>
          <a:xfrm>
            <a:off x="5198185" y="5986893"/>
            <a:ext cx="1832992" cy="2123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1590"/>
              </a:lnSpc>
            </a:pPr>
            <a:r>
              <a:rPr sz="1600" dirty="0">
                <a:latin typeface="Avenir Book" panose="02000503020000020003" pitchFamily="2" charset="0"/>
                <a:cs typeface="Arial" panose="020B0604020202020204" pitchFamily="34" charset="0"/>
              </a:rPr>
              <a:t>Surrogate</a:t>
            </a:r>
            <a:r>
              <a:rPr sz="1600" spc="90" dirty="0">
                <a:latin typeface="Avenir Book" panose="02000503020000020003" pitchFamily="2" charset="0"/>
                <a:cs typeface="Arial" panose="020B0604020202020204" pitchFamily="34" charset="0"/>
              </a:rPr>
              <a:t> </a:t>
            </a:r>
            <a:r>
              <a:rPr sz="1600" spc="-20" dirty="0">
                <a:latin typeface="Avenir Book" panose="02000503020000020003" pitchFamily="2" charset="0"/>
                <a:cs typeface="Arial" panose="020B0604020202020204" pitchFamily="34" charset="0"/>
              </a:rPr>
              <a:t>Model</a:t>
            </a:r>
            <a:endParaRPr sz="16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pic>
        <p:nvPicPr>
          <p:cNvPr id="47" name="dmd_single_traj_model">
            <a:hlinkClick r:id="" action="ppaction://media"/>
            <a:extLst>
              <a:ext uri="{FF2B5EF4-FFF2-40B4-BE49-F238E27FC236}">
                <a16:creationId xmlns:a16="http://schemas.microsoft.com/office/drawing/2014/main" id="{6BB6DCD7-3011-98BA-B5E5-4E3839517E6C}"/>
              </a:ext>
            </a:extLst>
          </p:cNvPr>
          <p:cNvPicPr>
            <a:picLocks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rcRect l="23853" t="15375" r="20477" b="11306"/>
          <a:stretch/>
        </p:blipFill>
        <p:spPr>
          <a:xfrm>
            <a:off x="9243868" y="4578864"/>
            <a:ext cx="1261872" cy="123444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53" name="Freeform 52">
            <a:extLst>
              <a:ext uri="{FF2B5EF4-FFF2-40B4-BE49-F238E27FC236}">
                <a16:creationId xmlns:a16="http://schemas.microsoft.com/office/drawing/2014/main" id="{D8782D94-DA72-CD32-4D66-9830563BD2BA}"/>
              </a:ext>
            </a:extLst>
          </p:cNvPr>
          <p:cNvSpPr/>
          <p:nvPr/>
        </p:nvSpPr>
        <p:spPr>
          <a:xfrm>
            <a:off x="3446505" y="5087957"/>
            <a:ext cx="914400" cy="12808"/>
          </a:xfrm>
          <a:custGeom>
            <a:avLst/>
            <a:gdLst>
              <a:gd name="csX0" fmla="*/ 0 w 914400"/>
              <a:gd name="csY0" fmla="*/ 281 h 12808"/>
              <a:gd name="csX1" fmla="*/ 87682 w 914400"/>
              <a:gd name="csY1" fmla="*/ 12808 h 12808"/>
              <a:gd name="csX2" fmla="*/ 789140 w 914400"/>
              <a:gd name="csY2" fmla="*/ 281 h 12808"/>
              <a:gd name="csX3" fmla="*/ 914400 w 914400"/>
              <a:gd name="csY3" fmla="*/ 281 h 128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14400" h="12808">
                <a:moveTo>
                  <a:pt x="0" y="281"/>
                </a:moveTo>
                <a:cubicBezTo>
                  <a:pt x="29227" y="4457"/>
                  <a:pt x="58158" y="12808"/>
                  <a:pt x="87682" y="12808"/>
                </a:cubicBezTo>
                <a:cubicBezTo>
                  <a:pt x="321539" y="12808"/>
                  <a:pt x="555310" y="3824"/>
                  <a:pt x="789140" y="281"/>
                </a:cubicBezTo>
                <a:cubicBezTo>
                  <a:pt x="830889" y="-352"/>
                  <a:pt x="872647" y="281"/>
                  <a:pt x="914400" y="281"/>
                </a:cubicBezTo>
              </a:path>
            </a:pathLst>
          </a:custGeom>
          <a:noFill/>
          <a:ln w="31750">
            <a:solidFill>
              <a:srgbClr val="646464"/>
            </a:solidFill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 53">
            <a:extLst>
              <a:ext uri="{FF2B5EF4-FFF2-40B4-BE49-F238E27FC236}">
                <a16:creationId xmlns:a16="http://schemas.microsoft.com/office/drawing/2014/main" id="{67F6C7AB-FBE9-775D-B89A-720F3D0A98E0}"/>
              </a:ext>
            </a:extLst>
          </p:cNvPr>
          <p:cNvSpPr/>
          <p:nvPr/>
        </p:nvSpPr>
        <p:spPr>
          <a:xfrm>
            <a:off x="7733301" y="5046510"/>
            <a:ext cx="914400" cy="12808"/>
          </a:xfrm>
          <a:custGeom>
            <a:avLst/>
            <a:gdLst>
              <a:gd name="csX0" fmla="*/ 0 w 914400"/>
              <a:gd name="csY0" fmla="*/ 281 h 12808"/>
              <a:gd name="csX1" fmla="*/ 87682 w 914400"/>
              <a:gd name="csY1" fmla="*/ 12808 h 12808"/>
              <a:gd name="csX2" fmla="*/ 789140 w 914400"/>
              <a:gd name="csY2" fmla="*/ 281 h 12808"/>
              <a:gd name="csX3" fmla="*/ 914400 w 914400"/>
              <a:gd name="csY3" fmla="*/ 281 h 128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14400" h="12808">
                <a:moveTo>
                  <a:pt x="0" y="281"/>
                </a:moveTo>
                <a:cubicBezTo>
                  <a:pt x="29227" y="4457"/>
                  <a:pt x="58158" y="12808"/>
                  <a:pt x="87682" y="12808"/>
                </a:cubicBezTo>
                <a:cubicBezTo>
                  <a:pt x="321539" y="12808"/>
                  <a:pt x="555310" y="3824"/>
                  <a:pt x="789140" y="281"/>
                </a:cubicBezTo>
                <a:cubicBezTo>
                  <a:pt x="830889" y="-352"/>
                  <a:pt x="872647" y="281"/>
                  <a:pt x="914400" y="281"/>
                </a:cubicBezTo>
              </a:path>
            </a:pathLst>
          </a:custGeom>
          <a:noFill/>
          <a:ln w="31750">
            <a:solidFill>
              <a:srgbClr val="646464"/>
            </a:solidFill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02EA26-4412-FC44-43D6-B98DB4E5A575}"/>
              </a:ext>
            </a:extLst>
          </p:cNvPr>
          <p:cNvSpPr/>
          <p:nvPr/>
        </p:nvSpPr>
        <p:spPr>
          <a:xfrm>
            <a:off x="5367275" y="4118836"/>
            <a:ext cx="1543559" cy="31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bject 5">
            <a:extLst>
              <a:ext uri="{FF2B5EF4-FFF2-40B4-BE49-F238E27FC236}">
                <a16:creationId xmlns:a16="http://schemas.microsoft.com/office/drawing/2014/main" id="{3564FC4D-02FB-02E1-6C64-EC3BF78588F9}"/>
              </a:ext>
            </a:extLst>
          </p:cNvPr>
          <p:cNvSpPr txBox="1"/>
          <p:nvPr/>
        </p:nvSpPr>
        <p:spPr>
          <a:xfrm>
            <a:off x="5495072" y="4145394"/>
            <a:ext cx="1309878" cy="262251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en-US" sz="1600" spc="-10" dirty="0">
                <a:latin typeface="Avenir Book" panose="02000503020000020003" pitchFamily="2" charset="0"/>
                <a:cs typeface="Arial" panose="020B0604020202020204" pitchFamily="34" charset="0"/>
              </a:rPr>
              <a:t>Training</a:t>
            </a:r>
            <a:endParaRPr sz="16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5B1919A-D6B8-755B-CB9B-04DDE3A48F78}"/>
              </a:ext>
            </a:extLst>
          </p:cNvPr>
          <p:cNvCxnSpPr>
            <a:cxnSpLocks/>
          </p:cNvCxnSpPr>
          <p:nvPr/>
        </p:nvCxnSpPr>
        <p:spPr>
          <a:xfrm>
            <a:off x="6124959" y="3795386"/>
            <a:ext cx="0" cy="274852"/>
          </a:xfrm>
          <a:prstGeom prst="line">
            <a:avLst/>
          </a:prstGeom>
          <a:ln>
            <a:solidFill>
              <a:srgbClr val="646464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D8D8740-45DE-0F5E-3B6C-0D81BF6D0ACA}"/>
              </a:ext>
            </a:extLst>
          </p:cNvPr>
          <p:cNvCxnSpPr/>
          <p:nvPr/>
        </p:nvCxnSpPr>
        <p:spPr>
          <a:xfrm>
            <a:off x="6124959" y="3795386"/>
            <a:ext cx="3682920" cy="0"/>
          </a:xfrm>
          <a:prstGeom prst="line">
            <a:avLst/>
          </a:prstGeom>
          <a:ln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7D5B654-255A-389A-0CF6-F64426878C72}"/>
              </a:ext>
            </a:extLst>
          </p:cNvPr>
          <p:cNvCxnSpPr>
            <a:cxnSpLocks/>
          </p:cNvCxnSpPr>
          <p:nvPr/>
        </p:nvCxnSpPr>
        <p:spPr>
          <a:xfrm>
            <a:off x="9807879" y="3381375"/>
            <a:ext cx="0" cy="415446"/>
          </a:xfrm>
          <a:prstGeom prst="line">
            <a:avLst/>
          </a:prstGeom>
          <a:ln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0582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16" fill="hold"/>
                                        <p:tgtEl>
                                          <p:spTgt spid="4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47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EF017-57E2-1D37-BD24-8FCCC4630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728F1CDD-0F9C-DA76-42BF-87AF3BDFA6C8}"/>
              </a:ext>
            </a:extLst>
          </p:cNvPr>
          <p:cNvSpPr/>
          <p:nvPr/>
        </p:nvSpPr>
        <p:spPr>
          <a:xfrm>
            <a:off x="914399" y="1283238"/>
            <a:ext cx="10086976" cy="2374362"/>
          </a:xfrm>
          <a:prstGeom prst="rect">
            <a:avLst/>
          </a:prstGeom>
          <a:solidFill>
            <a:srgbClr val="EDF5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A9F407C-4EF9-FED8-F794-ABBF26029F5B}"/>
              </a:ext>
            </a:extLst>
          </p:cNvPr>
          <p:cNvCxnSpPr/>
          <p:nvPr/>
        </p:nvCxnSpPr>
        <p:spPr>
          <a:xfrm>
            <a:off x="914400" y="1071563"/>
            <a:ext cx="10086975" cy="0"/>
          </a:xfrm>
          <a:prstGeom prst="line">
            <a:avLst/>
          </a:prstGeom>
          <a:ln w="22225">
            <a:solidFill>
              <a:srgbClr val="7F9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B2791AB-96C8-1A20-0308-1D7482D7B0CE}"/>
              </a:ext>
            </a:extLst>
          </p:cNvPr>
          <p:cNvSpPr txBox="1"/>
          <p:nvPr/>
        </p:nvSpPr>
        <p:spPr>
          <a:xfrm>
            <a:off x="914399" y="494912"/>
            <a:ext cx="93297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venir Light" panose="020B0402020203020204" pitchFamily="34" charset="77"/>
              </a:rPr>
              <a:t>What does surrogate modeling look like on TACC systems?</a:t>
            </a:r>
          </a:p>
        </p:txBody>
      </p:sp>
      <p:sp>
        <p:nvSpPr>
          <p:cNvPr id="1032" name="Slide Number Placeholder 1031">
            <a:extLst>
              <a:ext uri="{FF2B5EF4-FFF2-40B4-BE49-F238E27FC236}">
                <a16:creationId xmlns:a16="http://schemas.microsoft.com/office/drawing/2014/main" id="{1DDEFF72-CEE6-57C9-F93F-1F0812963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78B8C-3A5C-324B-A3F5-C0AF7DCE0B23}" type="slidenum">
              <a:rPr lang="en-US" smtClean="0"/>
              <a:t>6</a:t>
            </a:fld>
            <a:endParaRPr lang="en-US" dirty="0"/>
          </a:p>
        </p:txBody>
      </p:sp>
      <p:pic>
        <p:nvPicPr>
          <p:cNvPr id="7" name="object 19">
            <a:extLst>
              <a:ext uri="{FF2B5EF4-FFF2-40B4-BE49-F238E27FC236}">
                <a16:creationId xmlns:a16="http://schemas.microsoft.com/office/drawing/2014/main" id="{048119BC-C682-3A81-815A-B574D89CA88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31879" y="4222868"/>
            <a:ext cx="1247775" cy="1228725"/>
          </a:xfrm>
          <a:prstGeom prst="rect">
            <a:avLst/>
          </a:prstGeom>
        </p:spPr>
      </p:pic>
      <p:pic>
        <p:nvPicPr>
          <p:cNvPr id="10" name="object 20">
            <a:extLst>
              <a:ext uri="{FF2B5EF4-FFF2-40B4-BE49-F238E27FC236}">
                <a16:creationId xmlns:a16="http://schemas.microsoft.com/office/drawing/2014/main" id="{5205BB77-6D4B-760E-742C-AAA96B650DF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84279" y="4375268"/>
            <a:ext cx="1247775" cy="1228725"/>
          </a:xfrm>
          <a:prstGeom prst="rect">
            <a:avLst/>
          </a:prstGeom>
        </p:spPr>
      </p:pic>
      <p:sp>
        <p:nvSpPr>
          <p:cNvPr id="11" name="object 21">
            <a:extLst>
              <a:ext uri="{FF2B5EF4-FFF2-40B4-BE49-F238E27FC236}">
                <a16:creationId xmlns:a16="http://schemas.microsoft.com/office/drawing/2014/main" id="{5878445D-74AF-446E-003F-C06419E457A8}"/>
              </a:ext>
            </a:extLst>
          </p:cNvPr>
          <p:cNvSpPr/>
          <p:nvPr/>
        </p:nvSpPr>
        <p:spPr>
          <a:xfrm>
            <a:off x="1879580" y="4370505"/>
            <a:ext cx="1257300" cy="1238250"/>
          </a:xfrm>
          <a:custGeom>
            <a:avLst/>
            <a:gdLst/>
            <a:ahLst/>
            <a:cxnLst/>
            <a:rect l="l" t="t" r="r" b="b"/>
            <a:pathLst>
              <a:path w="1257300" h="1238250">
                <a:moveTo>
                  <a:pt x="0" y="1238250"/>
                </a:moveTo>
                <a:lnTo>
                  <a:pt x="1257300" y="1238250"/>
                </a:lnTo>
                <a:lnTo>
                  <a:pt x="1257300" y="0"/>
                </a:lnTo>
                <a:lnTo>
                  <a:pt x="0" y="0"/>
                </a:lnTo>
                <a:lnTo>
                  <a:pt x="0" y="123825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22">
            <a:extLst>
              <a:ext uri="{FF2B5EF4-FFF2-40B4-BE49-F238E27FC236}">
                <a16:creationId xmlns:a16="http://schemas.microsoft.com/office/drawing/2014/main" id="{5416DAD9-8A26-C68F-F040-609951083643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36679" y="4527668"/>
            <a:ext cx="1257300" cy="1228725"/>
          </a:xfrm>
          <a:prstGeom prst="rect">
            <a:avLst/>
          </a:prstGeom>
        </p:spPr>
      </p:pic>
      <p:sp>
        <p:nvSpPr>
          <p:cNvPr id="14" name="object 23">
            <a:extLst>
              <a:ext uri="{FF2B5EF4-FFF2-40B4-BE49-F238E27FC236}">
                <a16:creationId xmlns:a16="http://schemas.microsoft.com/office/drawing/2014/main" id="{23E66B40-3070-5B01-905C-A62591B1AE31}"/>
              </a:ext>
            </a:extLst>
          </p:cNvPr>
          <p:cNvSpPr/>
          <p:nvPr/>
        </p:nvSpPr>
        <p:spPr>
          <a:xfrm>
            <a:off x="2031979" y="4522905"/>
            <a:ext cx="1266825" cy="1238250"/>
          </a:xfrm>
          <a:custGeom>
            <a:avLst/>
            <a:gdLst/>
            <a:ahLst/>
            <a:cxnLst/>
            <a:rect l="l" t="t" r="r" b="b"/>
            <a:pathLst>
              <a:path w="1266825" h="1238250">
                <a:moveTo>
                  <a:pt x="0" y="1238250"/>
                </a:moveTo>
                <a:lnTo>
                  <a:pt x="1266825" y="1238250"/>
                </a:lnTo>
                <a:lnTo>
                  <a:pt x="1266825" y="0"/>
                </a:lnTo>
                <a:lnTo>
                  <a:pt x="0" y="0"/>
                </a:lnTo>
                <a:lnTo>
                  <a:pt x="0" y="123825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25">
            <a:extLst>
              <a:ext uri="{FF2B5EF4-FFF2-40B4-BE49-F238E27FC236}">
                <a16:creationId xmlns:a16="http://schemas.microsoft.com/office/drawing/2014/main" id="{7C9C93FE-8C05-FCBD-92B1-6A636B9CC7F2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947069" y="4261110"/>
            <a:ext cx="1257300" cy="1238250"/>
          </a:xfrm>
          <a:prstGeom prst="rect">
            <a:avLst/>
          </a:prstGeom>
        </p:spPr>
      </p:pic>
      <p:pic>
        <p:nvPicPr>
          <p:cNvPr id="17" name="object 26">
            <a:extLst>
              <a:ext uri="{FF2B5EF4-FFF2-40B4-BE49-F238E27FC236}">
                <a16:creationId xmlns:a16="http://schemas.microsoft.com/office/drawing/2014/main" id="{16D704CE-04D3-6917-8138-0D95C67C36C9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99469" y="4413510"/>
            <a:ext cx="1257300" cy="1238250"/>
          </a:xfrm>
          <a:prstGeom prst="rect">
            <a:avLst/>
          </a:prstGeom>
        </p:spPr>
      </p:pic>
      <p:sp>
        <p:nvSpPr>
          <p:cNvPr id="20" name="object 27">
            <a:extLst>
              <a:ext uri="{FF2B5EF4-FFF2-40B4-BE49-F238E27FC236}">
                <a16:creationId xmlns:a16="http://schemas.microsoft.com/office/drawing/2014/main" id="{DDD54104-700F-10C7-BD38-3269CB17EACA}"/>
              </a:ext>
            </a:extLst>
          </p:cNvPr>
          <p:cNvSpPr/>
          <p:nvPr/>
        </p:nvSpPr>
        <p:spPr>
          <a:xfrm>
            <a:off x="9094770" y="4408747"/>
            <a:ext cx="1266825" cy="1247775"/>
          </a:xfrm>
          <a:custGeom>
            <a:avLst/>
            <a:gdLst/>
            <a:ahLst/>
            <a:cxnLst/>
            <a:rect l="l" t="t" r="r" b="b"/>
            <a:pathLst>
              <a:path w="1266825" h="1247775">
                <a:moveTo>
                  <a:pt x="0" y="1247775"/>
                </a:moveTo>
                <a:lnTo>
                  <a:pt x="1266825" y="1247775"/>
                </a:lnTo>
                <a:lnTo>
                  <a:pt x="1266825" y="0"/>
                </a:lnTo>
                <a:lnTo>
                  <a:pt x="0" y="0"/>
                </a:lnTo>
                <a:lnTo>
                  <a:pt x="0" y="1247775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9">
            <a:extLst>
              <a:ext uri="{FF2B5EF4-FFF2-40B4-BE49-F238E27FC236}">
                <a16:creationId xmlns:a16="http://schemas.microsoft.com/office/drawing/2014/main" id="{BCE973F6-6FD0-66B2-9664-422CAC6C641B}"/>
              </a:ext>
            </a:extLst>
          </p:cNvPr>
          <p:cNvSpPr/>
          <p:nvPr/>
        </p:nvSpPr>
        <p:spPr>
          <a:xfrm>
            <a:off x="9247170" y="4561147"/>
            <a:ext cx="1266825" cy="1247775"/>
          </a:xfrm>
          <a:custGeom>
            <a:avLst/>
            <a:gdLst/>
            <a:ahLst/>
            <a:cxnLst/>
            <a:rect l="l" t="t" r="r" b="b"/>
            <a:pathLst>
              <a:path w="1266825" h="1247775">
                <a:moveTo>
                  <a:pt x="0" y="1247775"/>
                </a:moveTo>
                <a:lnTo>
                  <a:pt x="1266825" y="1247775"/>
                </a:lnTo>
                <a:lnTo>
                  <a:pt x="1266825" y="0"/>
                </a:lnTo>
                <a:lnTo>
                  <a:pt x="0" y="0"/>
                </a:lnTo>
                <a:lnTo>
                  <a:pt x="0" y="1247775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ED3D704-9B0B-88DE-F27B-B74E9BCA97B6}"/>
              </a:ext>
            </a:extLst>
          </p:cNvPr>
          <p:cNvGrpSpPr/>
          <p:nvPr/>
        </p:nvGrpSpPr>
        <p:grpSpPr>
          <a:xfrm>
            <a:off x="4733556" y="4261381"/>
            <a:ext cx="2800350" cy="1581150"/>
            <a:chOff x="4456286" y="4370918"/>
            <a:chExt cx="2800350" cy="1581150"/>
          </a:xfrm>
        </p:grpSpPr>
        <p:sp>
          <p:nvSpPr>
            <p:cNvPr id="3" name="object 32">
              <a:extLst>
                <a:ext uri="{FF2B5EF4-FFF2-40B4-BE49-F238E27FC236}">
                  <a16:creationId xmlns:a16="http://schemas.microsoft.com/office/drawing/2014/main" id="{28275509-CA75-1249-DC79-3BD5186D74F1}"/>
                </a:ext>
              </a:extLst>
            </p:cNvPr>
            <p:cNvSpPr/>
            <p:nvPr/>
          </p:nvSpPr>
          <p:spPr>
            <a:xfrm>
              <a:off x="4456286" y="4370918"/>
              <a:ext cx="2800350" cy="1581150"/>
            </a:xfrm>
            <a:custGeom>
              <a:avLst/>
              <a:gdLst/>
              <a:ahLst/>
              <a:cxnLst/>
              <a:rect l="l" t="t" r="r" b="b"/>
              <a:pathLst>
                <a:path w="2800350" h="1581150">
                  <a:moveTo>
                    <a:pt x="0" y="1581150"/>
                  </a:moveTo>
                  <a:lnTo>
                    <a:pt x="2800350" y="1581150"/>
                  </a:lnTo>
                  <a:lnTo>
                    <a:pt x="2800350" y="0"/>
                  </a:lnTo>
                  <a:lnTo>
                    <a:pt x="0" y="0"/>
                  </a:lnTo>
                  <a:lnTo>
                    <a:pt x="0" y="158115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31">
              <a:extLst>
                <a:ext uri="{FF2B5EF4-FFF2-40B4-BE49-F238E27FC236}">
                  <a16:creationId xmlns:a16="http://schemas.microsoft.com/office/drawing/2014/main" id="{90662AC4-7881-D524-4B0E-BA01FB5F02F8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88061" y="4698007"/>
              <a:ext cx="2298700" cy="955611"/>
            </a:xfrm>
            <a:prstGeom prst="rect">
              <a:avLst/>
            </a:prstGeom>
          </p:spPr>
        </p:pic>
      </p:grpSp>
      <p:sp>
        <p:nvSpPr>
          <p:cNvPr id="24" name="object 36">
            <a:extLst>
              <a:ext uri="{FF2B5EF4-FFF2-40B4-BE49-F238E27FC236}">
                <a16:creationId xmlns:a16="http://schemas.microsoft.com/office/drawing/2014/main" id="{AD2D8552-7847-1A45-06A5-AA125A7F6FA7}"/>
              </a:ext>
            </a:extLst>
          </p:cNvPr>
          <p:cNvSpPr txBox="1"/>
          <p:nvPr/>
        </p:nvSpPr>
        <p:spPr>
          <a:xfrm>
            <a:off x="8943084" y="5989320"/>
            <a:ext cx="1832991" cy="2142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1595"/>
              </a:lnSpc>
            </a:pPr>
            <a:r>
              <a:rPr sz="1600" dirty="0">
                <a:latin typeface="Avenir Book" panose="02000503020000020003" pitchFamily="2" charset="0"/>
                <a:cs typeface="Arial" panose="020B0604020202020204" pitchFamily="34" charset="0"/>
              </a:rPr>
              <a:t>Output</a:t>
            </a:r>
            <a:r>
              <a:rPr sz="1600" spc="125" dirty="0">
                <a:latin typeface="Avenir Book" panose="02000503020000020003" pitchFamily="2" charset="0"/>
                <a:cs typeface="Arial" panose="020B0604020202020204" pitchFamily="34" charset="0"/>
              </a:rPr>
              <a:t> </a:t>
            </a:r>
            <a:r>
              <a:rPr sz="1600" spc="-10" dirty="0">
                <a:latin typeface="Avenir Book" panose="02000503020000020003" pitchFamily="2" charset="0"/>
                <a:cs typeface="Arial" panose="020B0604020202020204" pitchFamily="34" charset="0"/>
              </a:rPr>
              <a:t>(Modeled)</a:t>
            </a:r>
            <a:endParaRPr sz="16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sp>
        <p:nvSpPr>
          <p:cNvPr id="25" name="object 37">
            <a:extLst>
              <a:ext uri="{FF2B5EF4-FFF2-40B4-BE49-F238E27FC236}">
                <a16:creationId xmlns:a16="http://schemas.microsoft.com/office/drawing/2014/main" id="{AAAC7831-72FD-CC85-8E3C-8486CE45EF75}"/>
              </a:ext>
            </a:extLst>
          </p:cNvPr>
          <p:cNvSpPr txBox="1"/>
          <p:nvPr/>
        </p:nvSpPr>
        <p:spPr>
          <a:xfrm>
            <a:off x="1402581" y="5989320"/>
            <a:ext cx="2193942" cy="2123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1590"/>
              </a:lnSpc>
            </a:pPr>
            <a:r>
              <a:rPr sz="1600" dirty="0">
                <a:latin typeface="Avenir Book" panose="02000503020000020003" pitchFamily="2" charset="0"/>
                <a:cs typeface="Arial" panose="020B0604020202020204" pitchFamily="34" charset="0"/>
              </a:rPr>
              <a:t>Initial</a:t>
            </a:r>
            <a:r>
              <a:rPr sz="1600" spc="114" dirty="0">
                <a:latin typeface="Avenir Book" panose="02000503020000020003" pitchFamily="2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venir Book" panose="02000503020000020003" pitchFamily="2" charset="0"/>
                <a:cs typeface="Arial" panose="020B0604020202020204" pitchFamily="34" charset="0"/>
              </a:rPr>
              <a:t>Conditions</a:t>
            </a:r>
          </a:p>
        </p:txBody>
      </p:sp>
      <p:sp>
        <p:nvSpPr>
          <p:cNvPr id="26" name="object 38">
            <a:extLst>
              <a:ext uri="{FF2B5EF4-FFF2-40B4-BE49-F238E27FC236}">
                <a16:creationId xmlns:a16="http://schemas.microsoft.com/office/drawing/2014/main" id="{C3C0E7D7-52E8-B10E-3C21-A53A6F70A7EB}"/>
              </a:ext>
            </a:extLst>
          </p:cNvPr>
          <p:cNvSpPr txBox="1"/>
          <p:nvPr/>
        </p:nvSpPr>
        <p:spPr>
          <a:xfrm>
            <a:off x="5198185" y="5986893"/>
            <a:ext cx="1832992" cy="2123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1590"/>
              </a:lnSpc>
            </a:pPr>
            <a:r>
              <a:rPr sz="1600" dirty="0">
                <a:latin typeface="Avenir Book" panose="02000503020000020003" pitchFamily="2" charset="0"/>
                <a:cs typeface="Arial" panose="020B0604020202020204" pitchFamily="34" charset="0"/>
              </a:rPr>
              <a:t>Surrogate</a:t>
            </a:r>
            <a:r>
              <a:rPr sz="1600" spc="90" dirty="0">
                <a:latin typeface="Avenir Book" panose="02000503020000020003" pitchFamily="2" charset="0"/>
                <a:cs typeface="Arial" panose="020B0604020202020204" pitchFamily="34" charset="0"/>
              </a:rPr>
              <a:t> </a:t>
            </a:r>
            <a:r>
              <a:rPr sz="1600" spc="-20" dirty="0">
                <a:latin typeface="Avenir Book" panose="02000503020000020003" pitchFamily="2" charset="0"/>
                <a:cs typeface="Arial" panose="020B0604020202020204" pitchFamily="34" charset="0"/>
              </a:rPr>
              <a:t>Model</a:t>
            </a:r>
            <a:endParaRPr sz="16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pic>
        <p:nvPicPr>
          <p:cNvPr id="47" name="dmd_single_traj_model">
            <a:hlinkClick r:id="" action="ppaction://media"/>
            <a:extLst>
              <a:ext uri="{FF2B5EF4-FFF2-40B4-BE49-F238E27FC236}">
                <a16:creationId xmlns:a16="http://schemas.microsoft.com/office/drawing/2014/main" id="{53B105D8-6D07-76AC-41C4-F9554D691D52}"/>
              </a:ext>
            </a:extLst>
          </p:cNvPr>
          <p:cNvPicPr>
            <a:picLocks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23853" t="15375" r="20477" b="11306"/>
          <a:stretch/>
        </p:blipFill>
        <p:spPr>
          <a:xfrm>
            <a:off x="9243868" y="4578864"/>
            <a:ext cx="1261872" cy="123444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53" name="Freeform 52">
            <a:extLst>
              <a:ext uri="{FF2B5EF4-FFF2-40B4-BE49-F238E27FC236}">
                <a16:creationId xmlns:a16="http://schemas.microsoft.com/office/drawing/2014/main" id="{28F6B480-B02B-A120-13B2-4936466095AB}"/>
              </a:ext>
            </a:extLst>
          </p:cNvPr>
          <p:cNvSpPr/>
          <p:nvPr/>
        </p:nvSpPr>
        <p:spPr>
          <a:xfrm>
            <a:off x="3446505" y="5087957"/>
            <a:ext cx="914400" cy="12808"/>
          </a:xfrm>
          <a:custGeom>
            <a:avLst/>
            <a:gdLst>
              <a:gd name="csX0" fmla="*/ 0 w 914400"/>
              <a:gd name="csY0" fmla="*/ 281 h 12808"/>
              <a:gd name="csX1" fmla="*/ 87682 w 914400"/>
              <a:gd name="csY1" fmla="*/ 12808 h 12808"/>
              <a:gd name="csX2" fmla="*/ 789140 w 914400"/>
              <a:gd name="csY2" fmla="*/ 281 h 12808"/>
              <a:gd name="csX3" fmla="*/ 914400 w 914400"/>
              <a:gd name="csY3" fmla="*/ 281 h 128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14400" h="12808">
                <a:moveTo>
                  <a:pt x="0" y="281"/>
                </a:moveTo>
                <a:cubicBezTo>
                  <a:pt x="29227" y="4457"/>
                  <a:pt x="58158" y="12808"/>
                  <a:pt x="87682" y="12808"/>
                </a:cubicBezTo>
                <a:cubicBezTo>
                  <a:pt x="321539" y="12808"/>
                  <a:pt x="555310" y="3824"/>
                  <a:pt x="789140" y="281"/>
                </a:cubicBezTo>
                <a:cubicBezTo>
                  <a:pt x="830889" y="-352"/>
                  <a:pt x="872647" y="281"/>
                  <a:pt x="914400" y="281"/>
                </a:cubicBezTo>
              </a:path>
            </a:pathLst>
          </a:custGeom>
          <a:noFill/>
          <a:ln w="31750">
            <a:solidFill>
              <a:srgbClr val="646464"/>
            </a:solidFill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 53">
            <a:extLst>
              <a:ext uri="{FF2B5EF4-FFF2-40B4-BE49-F238E27FC236}">
                <a16:creationId xmlns:a16="http://schemas.microsoft.com/office/drawing/2014/main" id="{6E78C0C4-ED8D-0DDC-10FF-EE41EDDDE1B9}"/>
              </a:ext>
            </a:extLst>
          </p:cNvPr>
          <p:cNvSpPr/>
          <p:nvPr/>
        </p:nvSpPr>
        <p:spPr>
          <a:xfrm>
            <a:off x="7733301" y="5046510"/>
            <a:ext cx="914400" cy="12808"/>
          </a:xfrm>
          <a:custGeom>
            <a:avLst/>
            <a:gdLst>
              <a:gd name="csX0" fmla="*/ 0 w 914400"/>
              <a:gd name="csY0" fmla="*/ 281 h 12808"/>
              <a:gd name="csX1" fmla="*/ 87682 w 914400"/>
              <a:gd name="csY1" fmla="*/ 12808 h 12808"/>
              <a:gd name="csX2" fmla="*/ 789140 w 914400"/>
              <a:gd name="csY2" fmla="*/ 281 h 12808"/>
              <a:gd name="csX3" fmla="*/ 914400 w 914400"/>
              <a:gd name="csY3" fmla="*/ 281 h 128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14400" h="12808">
                <a:moveTo>
                  <a:pt x="0" y="281"/>
                </a:moveTo>
                <a:cubicBezTo>
                  <a:pt x="29227" y="4457"/>
                  <a:pt x="58158" y="12808"/>
                  <a:pt x="87682" y="12808"/>
                </a:cubicBezTo>
                <a:cubicBezTo>
                  <a:pt x="321539" y="12808"/>
                  <a:pt x="555310" y="3824"/>
                  <a:pt x="789140" y="281"/>
                </a:cubicBezTo>
                <a:cubicBezTo>
                  <a:pt x="830889" y="-352"/>
                  <a:pt x="872647" y="281"/>
                  <a:pt x="914400" y="281"/>
                </a:cubicBezTo>
              </a:path>
            </a:pathLst>
          </a:custGeom>
          <a:noFill/>
          <a:ln w="31750">
            <a:solidFill>
              <a:srgbClr val="646464"/>
            </a:solidFill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E38A7B-86D0-CC54-CD1B-425686D56A14}"/>
              </a:ext>
            </a:extLst>
          </p:cNvPr>
          <p:cNvSpPr/>
          <p:nvPr/>
        </p:nvSpPr>
        <p:spPr>
          <a:xfrm>
            <a:off x="5367275" y="4118836"/>
            <a:ext cx="1543559" cy="31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bject 5">
            <a:extLst>
              <a:ext uri="{FF2B5EF4-FFF2-40B4-BE49-F238E27FC236}">
                <a16:creationId xmlns:a16="http://schemas.microsoft.com/office/drawing/2014/main" id="{ED626FEA-E138-E30D-65D2-012C0373BF9D}"/>
              </a:ext>
            </a:extLst>
          </p:cNvPr>
          <p:cNvSpPr txBox="1"/>
          <p:nvPr/>
        </p:nvSpPr>
        <p:spPr>
          <a:xfrm>
            <a:off x="5495072" y="4145394"/>
            <a:ext cx="1309878" cy="262251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en-US" sz="1600" spc="-10" dirty="0">
                <a:latin typeface="Avenir Book" panose="02000503020000020003" pitchFamily="2" charset="0"/>
                <a:cs typeface="Arial" panose="020B0604020202020204" pitchFamily="34" charset="0"/>
              </a:rPr>
              <a:t>Training</a:t>
            </a:r>
            <a:endParaRPr sz="16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sp>
        <p:nvSpPr>
          <p:cNvPr id="29" name="object 4">
            <a:extLst>
              <a:ext uri="{FF2B5EF4-FFF2-40B4-BE49-F238E27FC236}">
                <a16:creationId xmlns:a16="http://schemas.microsoft.com/office/drawing/2014/main" id="{E4E21EC1-6780-5C93-39F5-3826BB6B8F92}"/>
              </a:ext>
            </a:extLst>
          </p:cNvPr>
          <p:cNvSpPr txBox="1"/>
          <p:nvPr/>
        </p:nvSpPr>
        <p:spPr>
          <a:xfrm>
            <a:off x="1342118" y="1434027"/>
            <a:ext cx="7473349" cy="1969257"/>
          </a:xfrm>
          <a:prstGeom prst="rect">
            <a:avLst/>
          </a:prstGeom>
          <a:ln w="12700">
            <a:noFill/>
          </a:ln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600" b="1" dirty="0">
                <a:latin typeface="Avenir Book" panose="02000503020000020003" pitchFamily="2" charset="0"/>
                <a:cs typeface="Arial" panose="020B0604020202020204" pitchFamily="34" charset="0"/>
              </a:rPr>
              <a:t>     </a:t>
            </a: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1600" b="1" dirty="0">
                <a:latin typeface="Avenir Book" panose="02000503020000020003" pitchFamily="2" charset="0"/>
                <a:cs typeface="Arial" panose="020B0604020202020204" pitchFamily="34" charset="0"/>
              </a:rPr>
              <a:t>How does this pipeline map to TACC systems?</a:t>
            </a: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endParaRPr lang="en-US" sz="600" b="1" dirty="0">
              <a:latin typeface="Avenir Book" panose="02000503020000020003" pitchFamily="2" charset="0"/>
              <a:cs typeface="Arial" panose="020B0604020202020204" pitchFamily="34" charset="0"/>
            </a:endParaRPr>
          </a:p>
          <a:p>
            <a:pPr marL="298450" indent="-285750">
              <a:lnSpc>
                <a:spcPct val="150000"/>
              </a:lnSpc>
              <a:spcBef>
                <a:spcPts val="125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Avenir Book" panose="02000503020000020003" pitchFamily="2" charset="0"/>
                <a:cs typeface="Arial" panose="020B0604020202020204" pitchFamily="34" charset="0"/>
              </a:rPr>
              <a:t>Generate training data: CPU Clusters on Stampede3, LS6, Vista, and Horizon</a:t>
            </a:r>
          </a:p>
          <a:p>
            <a:pPr marL="298450" indent="-285750">
              <a:lnSpc>
                <a:spcPct val="150000"/>
              </a:lnSpc>
              <a:spcBef>
                <a:spcPts val="125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Avenir Book" panose="02000503020000020003" pitchFamily="2" charset="0"/>
                <a:cs typeface="Arial" panose="020B0604020202020204" pitchFamily="34" charset="0"/>
              </a:rPr>
              <a:t>Store Training data: Corral, Ranch, user directories on compute systems</a:t>
            </a:r>
          </a:p>
          <a:p>
            <a:pPr marL="298450" indent="-285750">
              <a:lnSpc>
                <a:spcPct val="150000"/>
              </a:lnSpc>
              <a:spcBef>
                <a:spcPts val="125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Avenir Book" panose="02000503020000020003" pitchFamily="2" charset="0"/>
                <a:cs typeface="Arial" panose="020B0604020202020204" pitchFamily="34" charset="0"/>
              </a:rPr>
              <a:t>Train neural network: GPU resources on LS6, Vista, and Horizon</a:t>
            </a:r>
          </a:p>
          <a:p>
            <a:pPr marL="298450" indent="-285750">
              <a:lnSpc>
                <a:spcPct val="150000"/>
              </a:lnSpc>
              <a:spcBef>
                <a:spcPts val="125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Avenir Book" panose="02000503020000020003" pitchFamily="2" charset="0"/>
                <a:cs typeface="Arial" panose="020B0604020202020204" pitchFamily="34" charset="0"/>
              </a:rPr>
              <a:t>Deployment: GPU resources on LS6, Vista, and Horizon</a:t>
            </a:r>
            <a:endParaRPr sz="16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sp>
        <p:nvSpPr>
          <p:cNvPr id="31" name="object 5">
            <a:extLst>
              <a:ext uri="{FF2B5EF4-FFF2-40B4-BE49-F238E27FC236}">
                <a16:creationId xmlns:a16="http://schemas.microsoft.com/office/drawing/2014/main" id="{5855E3FB-B971-F2A5-6E84-B4794A933E1E}"/>
              </a:ext>
            </a:extLst>
          </p:cNvPr>
          <p:cNvSpPr txBox="1"/>
          <p:nvPr/>
        </p:nvSpPr>
        <p:spPr>
          <a:xfrm>
            <a:off x="8943084" y="1488495"/>
            <a:ext cx="1570911" cy="26225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en-US" sz="1600" spc="-10" dirty="0">
                <a:latin typeface="Avenir Book" panose="02000503020000020003" pitchFamily="2" charset="0"/>
                <a:cs typeface="Arial" panose="020B0604020202020204" pitchFamily="34" charset="0"/>
              </a:rPr>
              <a:t>Training Data</a:t>
            </a:r>
            <a:endParaRPr sz="16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pic>
        <p:nvPicPr>
          <p:cNvPr id="32" name="object 13">
            <a:extLst>
              <a:ext uri="{FF2B5EF4-FFF2-40B4-BE49-F238E27FC236}">
                <a16:creationId xmlns:a16="http://schemas.microsoft.com/office/drawing/2014/main" id="{38CE55B8-BED3-C123-422D-7640AF6EA920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943084" y="1847850"/>
            <a:ext cx="1257300" cy="1228725"/>
          </a:xfrm>
          <a:prstGeom prst="rect">
            <a:avLst/>
          </a:prstGeom>
        </p:spPr>
      </p:pic>
      <p:pic>
        <p:nvPicPr>
          <p:cNvPr id="33" name="object 14">
            <a:extLst>
              <a:ext uri="{FF2B5EF4-FFF2-40B4-BE49-F238E27FC236}">
                <a16:creationId xmlns:a16="http://schemas.microsoft.com/office/drawing/2014/main" id="{420A69ED-6C34-691D-7422-1A990DDFA066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095484" y="2000250"/>
            <a:ext cx="1257300" cy="1228725"/>
          </a:xfrm>
          <a:prstGeom prst="rect">
            <a:avLst/>
          </a:prstGeom>
        </p:spPr>
      </p:pic>
      <p:sp>
        <p:nvSpPr>
          <p:cNvPr id="39" name="object 15">
            <a:extLst>
              <a:ext uri="{FF2B5EF4-FFF2-40B4-BE49-F238E27FC236}">
                <a16:creationId xmlns:a16="http://schemas.microsoft.com/office/drawing/2014/main" id="{2991E261-DB8F-EBFC-1A9F-3C0998E6818C}"/>
              </a:ext>
            </a:extLst>
          </p:cNvPr>
          <p:cNvSpPr/>
          <p:nvPr/>
        </p:nvSpPr>
        <p:spPr>
          <a:xfrm>
            <a:off x="9090785" y="1995423"/>
            <a:ext cx="1266825" cy="1238250"/>
          </a:xfrm>
          <a:custGeom>
            <a:avLst/>
            <a:gdLst/>
            <a:ahLst/>
            <a:cxnLst/>
            <a:rect l="l" t="t" r="r" b="b"/>
            <a:pathLst>
              <a:path w="1266825" h="1238250">
                <a:moveTo>
                  <a:pt x="0" y="1238250"/>
                </a:moveTo>
                <a:lnTo>
                  <a:pt x="1266825" y="1238250"/>
                </a:lnTo>
                <a:lnTo>
                  <a:pt x="1266825" y="0"/>
                </a:lnTo>
                <a:lnTo>
                  <a:pt x="0" y="0"/>
                </a:lnTo>
                <a:lnTo>
                  <a:pt x="0" y="123825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17">
            <a:extLst>
              <a:ext uri="{FF2B5EF4-FFF2-40B4-BE49-F238E27FC236}">
                <a16:creationId xmlns:a16="http://schemas.microsoft.com/office/drawing/2014/main" id="{4FE49E29-89F6-7D59-E273-FB418456140A}"/>
              </a:ext>
            </a:extLst>
          </p:cNvPr>
          <p:cNvSpPr/>
          <p:nvPr/>
        </p:nvSpPr>
        <p:spPr>
          <a:xfrm>
            <a:off x="9243185" y="2147824"/>
            <a:ext cx="1266825" cy="1238250"/>
          </a:xfrm>
          <a:custGeom>
            <a:avLst/>
            <a:gdLst/>
            <a:ahLst/>
            <a:cxnLst/>
            <a:rect l="l" t="t" r="r" b="b"/>
            <a:pathLst>
              <a:path w="1266825" h="1238250">
                <a:moveTo>
                  <a:pt x="0" y="1238250"/>
                </a:moveTo>
                <a:lnTo>
                  <a:pt x="1266825" y="1238250"/>
                </a:lnTo>
                <a:lnTo>
                  <a:pt x="1266825" y="0"/>
                </a:lnTo>
                <a:lnTo>
                  <a:pt x="0" y="0"/>
                </a:lnTo>
                <a:lnTo>
                  <a:pt x="0" y="123825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8" name="Picture 47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F986FD5-4474-BD4B-7072-B279D0E98263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49027" y="2156079"/>
            <a:ext cx="1261872" cy="1225296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602164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16" fill="hold"/>
                                        <p:tgtEl>
                                          <p:spTgt spid="4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47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137D7-7870-947D-3A3A-33E2F809D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A945C51-B3C3-DCB0-EB4C-BF68F83450B2}"/>
              </a:ext>
            </a:extLst>
          </p:cNvPr>
          <p:cNvCxnSpPr/>
          <p:nvPr/>
        </p:nvCxnSpPr>
        <p:spPr>
          <a:xfrm>
            <a:off x="914400" y="1071563"/>
            <a:ext cx="10086975" cy="0"/>
          </a:xfrm>
          <a:prstGeom prst="line">
            <a:avLst/>
          </a:prstGeom>
          <a:ln w="22225">
            <a:solidFill>
              <a:srgbClr val="7F9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7524E3F-7291-C87F-E0A5-2707580DD13C}"/>
              </a:ext>
            </a:extLst>
          </p:cNvPr>
          <p:cNvSpPr txBox="1"/>
          <p:nvPr/>
        </p:nvSpPr>
        <p:spPr>
          <a:xfrm>
            <a:off x="914399" y="494912"/>
            <a:ext cx="93297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venir Light" panose="020B0402020203020204" pitchFamily="34" charset="77"/>
              </a:rPr>
              <a:t>Tutorial Outline</a:t>
            </a:r>
          </a:p>
        </p:txBody>
      </p:sp>
      <p:sp>
        <p:nvSpPr>
          <p:cNvPr id="1032" name="Slide Number Placeholder 1031">
            <a:extLst>
              <a:ext uri="{FF2B5EF4-FFF2-40B4-BE49-F238E27FC236}">
                <a16:creationId xmlns:a16="http://schemas.microsoft.com/office/drawing/2014/main" id="{89119975-2B5D-6EF8-AB74-1237D584B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78B8C-3A5C-324B-A3F5-C0AF7DCE0B23}" type="slidenum">
              <a:rPr lang="en-US" smtClean="0"/>
              <a:t>7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A8ABFF-8364-7585-CA50-CC013852E128}"/>
              </a:ext>
            </a:extLst>
          </p:cNvPr>
          <p:cNvSpPr/>
          <p:nvPr/>
        </p:nvSpPr>
        <p:spPr>
          <a:xfrm>
            <a:off x="1954059" y="1791225"/>
            <a:ext cx="3720231" cy="4058430"/>
          </a:xfrm>
          <a:prstGeom prst="rect">
            <a:avLst/>
          </a:prstGeom>
          <a:noFill/>
          <a:ln w="12700">
            <a:solidFill>
              <a:srgbClr val="6464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BE4EF7-E729-330D-CA7C-AF6B60111FD7}"/>
              </a:ext>
            </a:extLst>
          </p:cNvPr>
          <p:cNvSpPr/>
          <p:nvPr/>
        </p:nvSpPr>
        <p:spPr>
          <a:xfrm>
            <a:off x="6327731" y="1791225"/>
            <a:ext cx="3720231" cy="4058429"/>
          </a:xfrm>
          <a:prstGeom prst="rect">
            <a:avLst/>
          </a:prstGeom>
          <a:noFill/>
          <a:ln w="12700">
            <a:solidFill>
              <a:srgbClr val="6464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BB34F7-1771-9C03-907B-FEEB668EF83F}"/>
              </a:ext>
            </a:extLst>
          </p:cNvPr>
          <p:cNvSpPr/>
          <p:nvPr/>
        </p:nvSpPr>
        <p:spPr>
          <a:xfrm>
            <a:off x="2743200" y="1632475"/>
            <a:ext cx="2202794" cy="31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E7C4D446-AFD7-168F-4799-08E7E7FAD7A4}"/>
              </a:ext>
            </a:extLst>
          </p:cNvPr>
          <p:cNvSpPr txBox="1"/>
          <p:nvPr/>
        </p:nvSpPr>
        <p:spPr>
          <a:xfrm>
            <a:off x="2672684" y="1651796"/>
            <a:ext cx="2338798" cy="26225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en-US" sz="1600" dirty="0">
                <a:latin typeface="Avenir Book" panose="02000503020000020003" pitchFamily="2" charset="0"/>
                <a:cs typeface="Arial" panose="020B0604020202020204" pitchFamily="34" charset="0"/>
              </a:rPr>
              <a:t>What we’ll cover</a:t>
            </a:r>
            <a:endParaRPr sz="16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B369D7-C8F8-33C5-0D71-B54E5F6E7F54}"/>
              </a:ext>
            </a:extLst>
          </p:cNvPr>
          <p:cNvSpPr/>
          <p:nvPr/>
        </p:nvSpPr>
        <p:spPr>
          <a:xfrm>
            <a:off x="6938992" y="1632475"/>
            <a:ext cx="2397073" cy="31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bject 4">
            <a:extLst>
              <a:ext uri="{FF2B5EF4-FFF2-40B4-BE49-F238E27FC236}">
                <a16:creationId xmlns:a16="http://schemas.microsoft.com/office/drawing/2014/main" id="{D3080C6B-ED2F-688A-9E5A-AB8D0120EB15}"/>
              </a:ext>
            </a:extLst>
          </p:cNvPr>
          <p:cNvSpPr txBox="1"/>
          <p:nvPr/>
        </p:nvSpPr>
        <p:spPr>
          <a:xfrm>
            <a:off x="7118655" y="1651797"/>
            <a:ext cx="2100501" cy="2622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en-US" sz="1600" dirty="0">
                <a:latin typeface="Avenir Book" panose="02000503020000020003" pitchFamily="2" charset="0"/>
                <a:cs typeface="Arial" panose="020B0604020202020204" pitchFamily="34" charset="0"/>
              </a:rPr>
              <a:t>What we’ll take away</a:t>
            </a:r>
            <a:endParaRPr sz="16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sp>
        <p:nvSpPr>
          <p:cNvPr id="15" name="object 4">
            <a:extLst>
              <a:ext uri="{FF2B5EF4-FFF2-40B4-BE49-F238E27FC236}">
                <a16:creationId xmlns:a16="http://schemas.microsoft.com/office/drawing/2014/main" id="{25CE86DD-7D18-24F4-657F-B1D0374F735A}"/>
              </a:ext>
            </a:extLst>
          </p:cNvPr>
          <p:cNvSpPr txBox="1"/>
          <p:nvPr/>
        </p:nvSpPr>
        <p:spPr>
          <a:xfrm>
            <a:off x="2293305" y="3824342"/>
            <a:ext cx="3444659" cy="155747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5"/>
              </a:spcBef>
              <a:buFont typeface="+mj-lt"/>
              <a:buAutoNum type="arabicPeriod"/>
            </a:pPr>
            <a:r>
              <a:rPr lang="en-US" sz="1600" dirty="0">
                <a:latin typeface="Avenir Book" panose="02000503020000020003" pitchFamily="2" charset="0"/>
                <a:cs typeface="Arial" panose="020B0604020202020204" pitchFamily="34" charset="0"/>
              </a:rPr>
              <a:t>Data Loading</a:t>
            </a:r>
          </a:p>
          <a:p>
            <a:pPr marL="355600" indent="-342900">
              <a:lnSpc>
                <a:spcPct val="100000"/>
              </a:lnSpc>
              <a:spcBef>
                <a:spcPts val="125"/>
              </a:spcBef>
              <a:buFont typeface="+mj-lt"/>
              <a:buAutoNum type="arabicPeriod"/>
            </a:pPr>
            <a:r>
              <a:rPr lang="en-US" sz="1600" dirty="0">
                <a:latin typeface="Avenir Book" panose="02000503020000020003" pitchFamily="2" charset="0"/>
                <a:cs typeface="Arial" panose="020B0604020202020204" pitchFamily="34" charset="0"/>
              </a:rPr>
              <a:t>Data Normalization</a:t>
            </a:r>
          </a:p>
          <a:p>
            <a:pPr marL="355600" indent="-342900">
              <a:lnSpc>
                <a:spcPct val="100000"/>
              </a:lnSpc>
              <a:spcBef>
                <a:spcPts val="125"/>
              </a:spcBef>
              <a:buFont typeface="+mj-lt"/>
              <a:buAutoNum type="arabicPeriod"/>
            </a:pPr>
            <a:r>
              <a:rPr lang="en-US" sz="1600" dirty="0">
                <a:latin typeface="Avenir Book" panose="02000503020000020003" pitchFamily="2" charset="0"/>
                <a:cs typeface="Arial" panose="020B0604020202020204" pitchFamily="34" charset="0"/>
              </a:rPr>
              <a:t>Selecting an Architecture</a:t>
            </a:r>
          </a:p>
          <a:p>
            <a:pPr marL="355600" indent="-342900">
              <a:lnSpc>
                <a:spcPct val="100000"/>
              </a:lnSpc>
              <a:spcBef>
                <a:spcPts val="125"/>
              </a:spcBef>
              <a:buFont typeface="+mj-lt"/>
              <a:buAutoNum type="arabicPeriod"/>
            </a:pPr>
            <a:r>
              <a:rPr lang="en-US" sz="1600" dirty="0">
                <a:latin typeface="Avenir Book" panose="02000503020000020003" pitchFamily="2" charset="0"/>
                <a:cs typeface="Arial" panose="020B0604020202020204" pitchFamily="34" charset="0"/>
              </a:rPr>
              <a:t>Selecting an Objective</a:t>
            </a:r>
          </a:p>
          <a:p>
            <a:pPr marL="355600" indent="-342900">
              <a:lnSpc>
                <a:spcPct val="100000"/>
              </a:lnSpc>
              <a:spcBef>
                <a:spcPts val="125"/>
              </a:spcBef>
              <a:buFont typeface="+mj-lt"/>
              <a:buAutoNum type="arabicPeriod"/>
            </a:pPr>
            <a:r>
              <a:rPr lang="en-US" sz="1600" dirty="0">
                <a:latin typeface="Avenir Book" panose="02000503020000020003" pitchFamily="2" charset="0"/>
                <a:cs typeface="Arial" panose="020B0604020202020204" pitchFamily="34" charset="0"/>
              </a:rPr>
              <a:t>Training the Network</a:t>
            </a:r>
          </a:p>
          <a:p>
            <a:pPr marL="355600" indent="-342900">
              <a:lnSpc>
                <a:spcPct val="100000"/>
              </a:lnSpc>
              <a:spcBef>
                <a:spcPts val="125"/>
              </a:spcBef>
              <a:buFont typeface="+mj-lt"/>
              <a:buAutoNum type="arabicPeriod"/>
            </a:pPr>
            <a:r>
              <a:rPr lang="en-US" sz="1600" dirty="0">
                <a:latin typeface="Avenir Book" panose="02000503020000020003" pitchFamily="2" charset="0"/>
                <a:cs typeface="Arial" panose="020B0604020202020204" pitchFamily="34" charset="0"/>
              </a:rPr>
              <a:t>Testing/Evaluating the Model</a:t>
            </a:r>
            <a:endParaRPr sz="16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sp>
        <p:nvSpPr>
          <p:cNvPr id="17" name="object 4">
            <a:extLst>
              <a:ext uri="{FF2B5EF4-FFF2-40B4-BE49-F238E27FC236}">
                <a16:creationId xmlns:a16="http://schemas.microsoft.com/office/drawing/2014/main" id="{AF0EC959-6001-6744-F0DA-118CB1FE6D6D}"/>
              </a:ext>
            </a:extLst>
          </p:cNvPr>
          <p:cNvSpPr txBox="1"/>
          <p:nvPr/>
        </p:nvSpPr>
        <p:spPr>
          <a:xfrm>
            <a:off x="6526581" y="3616593"/>
            <a:ext cx="3282343" cy="176522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25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Avenir Book" panose="02000503020000020003" pitchFamily="2" charset="0"/>
                <a:cs typeface="Arial" panose="020B0604020202020204" pitchFamily="34" charset="0"/>
              </a:rPr>
              <a:t>Basic intuition for how TACC resources can be leveraged for surrogate modeling.</a:t>
            </a: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endParaRPr lang="en-US" sz="1600" dirty="0">
              <a:latin typeface="Avenir Book" panose="02000503020000020003" pitchFamily="2" charset="0"/>
              <a:cs typeface="Arial" panose="020B0604020202020204" pitchFamily="34" charset="0"/>
            </a:endParaRPr>
          </a:p>
          <a:p>
            <a:pPr marL="298450" indent="-285750">
              <a:lnSpc>
                <a:spcPct val="100000"/>
              </a:lnSpc>
              <a:spcBef>
                <a:spcPts val="125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Avenir Book" panose="02000503020000020003" pitchFamily="2" charset="0"/>
                <a:cs typeface="Arial" panose="020B0604020202020204" pitchFamily="34" charset="0"/>
              </a:rPr>
              <a:t>A </a:t>
            </a:r>
            <a:r>
              <a:rPr lang="en-US" sz="1600" b="1" dirty="0">
                <a:latin typeface="Avenir Book" panose="02000503020000020003" pitchFamily="2" charset="0"/>
                <a:cs typeface="Arial" panose="020B0604020202020204" pitchFamily="34" charset="0"/>
              </a:rPr>
              <a:t>template code </a:t>
            </a:r>
            <a:r>
              <a:rPr lang="en-US" sz="1600" dirty="0">
                <a:latin typeface="Avenir Book" panose="02000503020000020003" pitchFamily="2" charset="0"/>
                <a:cs typeface="Arial" panose="020B0604020202020204" pitchFamily="34" charset="0"/>
              </a:rPr>
              <a:t>that can serve as a starting point for their own surrogate modeling pipeline.</a:t>
            </a:r>
            <a:endParaRPr sz="16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sp>
        <p:nvSpPr>
          <p:cNvPr id="20" name="object 4">
            <a:extLst>
              <a:ext uri="{FF2B5EF4-FFF2-40B4-BE49-F238E27FC236}">
                <a16:creationId xmlns:a16="http://schemas.microsoft.com/office/drawing/2014/main" id="{63E071CF-C4D1-5C35-DB81-88EB08096660}"/>
              </a:ext>
            </a:extLst>
          </p:cNvPr>
          <p:cNvSpPr txBox="1"/>
          <p:nvPr/>
        </p:nvSpPr>
        <p:spPr>
          <a:xfrm>
            <a:off x="2293305" y="2310304"/>
            <a:ext cx="3092887" cy="124713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1600" dirty="0">
                <a:latin typeface="Avenir Book" panose="02000503020000020003" pitchFamily="2" charset="0"/>
                <a:cs typeface="Arial" panose="020B0604020202020204" pitchFamily="34" charset="0"/>
              </a:rPr>
              <a:t>This tutorial provides a step-by-step walkthrough of setting up a surrogate modeling </a:t>
            </a:r>
            <a:r>
              <a:rPr lang="en-US" sz="1600" b="1" dirty="0">
                <a:latin typeface="Avenir Book" panose="02000503020000020003" pitchFamily="2" charset="0"/>
                <a:cs typeface="Arial" panose="020B0604020202020204" pitchFamily="34" charset="0"/>
              </a:rPr>
              <a:t>pipeline</a:t>
            </a:r>
            <a:r>
              <a:rPr lang="en-US" sz="1600" dirty="0">
                <a:latin typeface="Avenir Book" panose="02000503020000020003" pitchFamily="2" charset="0"/>
                <a:cs typeface="Arial" panose="020B0604020202020204" pitchFamily="34" charset="0"/>
              </a:rPr>
              <a:t> on TACC systems. We cover the following steps:</a:t>
            </a:r>
            <a:endParaRPr sz="16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pic>
        <p:nvPicPr>
          <p:cNvPr id="21" name="Picture 20" descr="Deterministic dynamics of the SEIR model. (a) Schematic of the... |  Download Scientific Diagram">
            <a:extLst>
              <a:ext uri="{FF2B5EF4-FFF2-40B4-BE49-F238E27FC236}">
                <a16:creationId xmlns:a16="http://schemas.microsoft.com/office/drawing/2014/main" id="{D723BF26-034F-F6AF-CD4F-66198AC19D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3601"/>
          <a:stretch>
            <a:fillRect/>
          </a:stretch>
        </p:blipFill>
        <p:spPr>
          <a:xfrm>
            <a:off x="6327731" y="2310270"/>
            <a:ext cx="3481193" cy="1129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591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7BB61-E528-57B5-8738-13B720579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DEC15F1-471E-A771-4CFA-E11F7219F907}"/>
              </a:ext>
            </a:extLst>
          </p:cNvPr>
          <p:cNvCxnSpPr/>
          <p:nvPr/>
        </p:nvCxnSpPr>
        <p:spPr>
          <a:xfrm>
            <a:off x="914400" y="1071563"/>
            <a:ext cx="10086975" cy="0"/>
          </a:xfrm>
          <a:prstGeom prst="line">
            <a:avLst/>
          </a:prstGeom>
          <a:ln w="22225">
            <a:solidFill>
              <a:srgbClr val="7F9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4CB8334-3E29-4878-BD26-B84AFD7CFF30}"/>
              </a:ext>
            </a:extLst>
          </p:cNvPr>
          <p:cNvSpPr txBox="1"/>
          <p:nvPr/>
        </p:nvSpPr>
        <p:spPr>
          <a:xfrm>
            <a:off x="914399" y="494912"/>
            <a:ext cx="93297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venir Light" panose="020B0402020203020204" pitchFamily="34" charset="77"/>
              </a:rPr>
              <a:t>Example: Disease Spread in the Epidemic Regime</a:t>
            </a:r>
          </a:p>
        </p:txBody>
      </p:sp>
      <p:sp>
        <p:nvSpPr>
          <p:cNvPr id="1032" name="Slide Number Placeholder 1031">
            <a:extLst>
              <a:ext uri="{FF2B5EF4-FFF2-40B4-BE49-F238E27FC236}">
                <a16:creationId xmlns:a16="http://schemas.microsoft.com/office/drawing/2014/main" id="{77D902AF-38E2-CF97-E8B0-F929753AE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78B8C-3A5C-324B-A3F5-C0AF7DCE0B23}" type="slidenum">
              <a:rPr lang="en-US" smtClean="0"/>
              <a:t>8</a:t>
            </a:fld>
            <a:endParaRPr lang="en-US"/>
          </a:p>
        </p:txBody>
      </p:sp>
      <p:pic>
        <p:nvPicPr>
          <p:cNvPr id="3" name="SOCIAL_covid_movie_latest">
            <a:hlinkClick r:id="" action="ppaction://media"/>
            <a:extLst>
              <a:ext uri="{FF2B5EF4-FFF2-40B4-BE49-F238E27FC236}">
                <a16:creationId xmlns:a16="http://schemas.microsoft.com/office/drawing/2014/main" id="{1946E4F0-F2FA-AAF7-473C-C0B629AB1FA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592566" y="1330377"/>
            <a:ext cx="8730642" cy="4910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466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4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8D6E6-1E3D-B9E6-2641-1D9F3FEA7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720EDD7-6F5B-56F5-518E-70F2FCF75441}"/>
              </a:ext>
            </a:extLst>
          </p:cNvPr>
          <p:cNvCxnSpPr/>
          <p:nvPr/>
        </p:nvCxnSpPr>
        <p:spPr>
          <a:xfrm>
            <a:off x="914400" y="1071563"/>
            <a:ext cx="10086975" cy="0"/>
          </a:xfrm>
          <a:prstGeom prst="line">
            <a:avLst/>
          </a:prstGeom>
          <a:ln w="22225">
            <a:solidFill>
              <a:srgbClr val="7F9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1B9A6BB-DD24-7478-AB8B-8319B8126B7B}"/>
              </a:ext>
            </a:extLst>
          </p:cNvPr>
          <p:cNvSpPr txBox="1"/>
          <p:nvPr/>
        </p:nvSpPr>
        <p:spPr>
          <a:xfrm>
            <a:off x="914399" y="494912"/>
            <a:ext cx="93297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venir Light" panose="020B0402020203020204" pitchFamily="34" charset="77"/>
              </a:rPr>
              <a:t>Disease Spread as a Dynamical System</a:t>
            </a:r>
          </a:p>
        </p:txBody>
      </p:sp>
      <p:sp>
        <p:nvSpPr>
          <p:cNvPr id="1032" name="Slide Number Placeholder 1031">
            <a:extLst>
              <a:ext uri="{FF2B5EF4-FFF2-40B4-BE49-F238E27FC236}">
                <a16:creationId xmlns:a16="http://schemas.microsoft.com/office/drawing/2014/main" id="{956A9AEE-4EC4-9C93-AC9B-42BCE0565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78B8C-3A5C-324B-A3F5-C0AF7DCE0B23}" type="slidenum">
              <a:rPr lang="en-US" smtClean="0"/>
              <a:t>9</a:t>
            </a:fld>
            <a:endParaRPr lang="en-US"/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32F1120E-8237-2DD8-B47A-6581AD7E2E4D}"/>
              </a:ext>
            </a:extLst>
          </p:cNvPr>
          <p:cNvSpPr txBox="1"/>
          <p:nvPr/>
        </p:nvSpPr>
        <p:spPr>
          <a:xfrm>
            <a:off x="1225231" y="1320748"/>
            <a:ext cx="9776143" cy="353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25"/>
              </a:spcBef>
            </a:pPr>
            <a:r>
              <a:rPr lang="en-US" sz="1600" dirty="0">
                <a:latin typeface="Avenir Book" panose="02000503020000020003" pitchFamily="2" charset="0"/>
                <a:cs typeface="Arial" panose="020B0604020202020204" pitchFamily="34" charset="0"/>
              </a:rPr>
              <a:t>In a modeling context, disease spread is formulated as a dynamical system in time:</a:t>
            </a:r>
            <a:endParaRPr sz="16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68DF146-7BDF-23C1-5DE0-8D344DF5D4CD}"/>
                  </a:ext>
                </a:extLst>
              </p:cNvPr>
              <p:cNvSpPr txBox="1"/>
              <p:nvPr/>
            </p:nvSpPr>
            <p:spPr>
              <a:xfrm>
                <a:off x="1225231" y="1923362"/>
                <a:ext cx="153330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68DF146-7BDF-23C1-5DE0-8D344DF5D4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5231" y="1923362"/>
                <a:ext cx="1533304" cy="307777"/>
              </a:xfrm>
              <a:prstGeom prst="rect">
                <a:avLst/>
              </a:prstGeom>
              <a:blipFill>
                <a:blip r:embed="rId3"/>
                <a:stretch>
                  <a:fillRect l="-3279" t="-36000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4">
                <a:extLst>
                  <a:ext uri="{FF2B5EF4-FFF2-40B4-BE49-F238E27FC236}">
                    <a16:creationId xmlns:a16="http://schemas.microsoft.com/office/drawing/2014/main" id="{FB8F5B02-8E7C-5CF6-6A96-67A761923BEC}"/>
                  </a:ext>
                </a:extLst>
              </p:cNvPr>
              <p:cNvSpPr txBox="1"/>
              <p:nvPr/>
            </p:nvSpPr>
            <p:spPr>
              <a:xfrm>
                <a:off x="1225231" y="2504024"/>
                <a:ext cx="9776143" cy="351250"/>
              </a:xfrm>
              <a:prstGeom prst="rect">
                <a:avLst/>
              </a:prstGeom>
            </p:spPr>
            <p:txBody>
              <a:bodyPr vert="horz" wrap="square" lIns="0" tIns="15875" rIns="0" bIns="0" rtlCol="0">
                <a:spAutoFit/>
              </a:bodyPr>
              <a:lstStyle/>
              <a:p>
                <a:pPr marL="12700">
                  <a:lnSpc>
                    <a:spcPct val="150000"/>
                  </a:lnSpc>
                  <a:spcBef>
                    <a:spcPts val="125"/>
                  </a:spcBef>
                </a:pPr>
                <a:r>
                  <a:rPr lang="en-US" sz="1600" dirty="0">
                    <a:latin typeface="Avenir Book" panose="02000503020000020003" pitchFamily="2" charset="0"/>
                    <a:cs typeface="Arial" panose="020B0604020202020204" pitchFamily="34" charset="0"/>
                  </a:rPr>
                  <a:t>In this equation,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600" dirty="0">
                    <a:latin typeface="Avenir Book" panose="02000503020000020003" pitchFamily="2" charset="0"/>
                    <a:cs typeface="Arial" panose="020B0604020202020204" pitchFamily="34" charset="0"/>
                  </a:rPr>
                  <a:t> is the state vector, and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1600" dirty="0">
                    <a:latin typeface="Avenir Book" panose="02000503020000020003" pitchFamily="2" charset="0"/>
                    <a:cs typeface="Arial" panose="020B0604020202020204" pitchFamily="34" charset="0"/>
                  </a:rPr>
                  <a:t> is a function that maps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600" dirty="0">
                    <a:latin typeface="Avenir Book" panose="02000503020000020003" pitchFamily="2" charset="0"/>
                    <a:cs typeface="Arial" panose="020B0604020202020204" pitchFamily="34" charset="0"/>
                  </a:rPr>
                  <a:t> from time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600" dirty="0">
                    <a:latin typeface="Avenir Book" panose="02000503020000020003" pitchFamily="2" charset="0"/>
                    <a:cs typeface="Arial" panose="020B0604020202020204" pitchFamily="34" charset="0"/>
                  </a:rPr>
                  <a:t> to time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1600" dirty="0">
                    <a:latin typeface="Avenir Book" panose="02000503020000020003" pitchFamily="2" charset="0"/>
                    <a:cs typeface="Arial" panose="020B0604020202020204" pitchFamily="34" charset="0"/>
                  </a:rPr>
                  <a:t>.</a:t>
                </a:r>
                <a:endParaRPr sz="1600" dirty="0">
                  <a:latin typeface="Avenir Book" panose="02000503020000020003" pitchFamily="2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object 4">
                <a:extLst>
                  <a:ext uri="{FF2B5EF4-FFF2-40B4-BE49-F238E27FC236}">
                    <a16:creationId xmlns:a16="http://schemas.microsoft.com/office/drawing/2014/main" id="{FB8F5B02-8E7C-5CF6-6A96-67A761923B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5231" y="2504024"/>
                <a:ext cx="9776143" cy="351250"/>
              </a:xfrm>
              <a:prstGeom prst="rect">
                <a:avLst/>
              </a:prstGeom>
              <a:blipFill>
                <a:blip r:embed="rId4"/>
                <a:stretch>
                  <a:fillRect l="-1167" b="-39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val 9">
            <a:extLst>
              <a:ext uri="{FF2B5EF4-FFF2-40B4-BE49-F238E27FC236}">
                <a16:creationId xmlns:a16="http://schemas.microsoft.com/office/drawing/2014/main" id="{0233DAB1-9A1D-5D66-1F82-359400677346}"/>
              </a:ext>
            </a:extLst>
          </p:cNvPr>
          <p:cNvSpPr/>
          <p:nvPr/>
        </p:nvSpPr>
        <p:spPr>
          <a:xfrm>
            <a:off x="6747683" y="4824956"/>
            <a:ext cx="434207" cy="453452"/>
          </a:xfrm>
          <a:prstGeom prst="ellipse">
            <a:avLst/>
          </a:prstGeom>
          <a:solidFill>
            <a:srgbClr val="E1EFFB"/>
          </a:solidFill>
          <a:ln>
            <a:solidFill>
              <a:srgbClr val="6464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D02A08-8E87-96FB-CBE0-AF82322F4083}"/>
              </a:ext>
            </a:extLst>
          </p:cNvPr>
          <p:cNvSpPr/>
          <p:nvPr/>
        </p:nvSpPr>
        <p:spPr>
          <a:xfrm>
            <a:off x="6407014" y="4215294"/>
            <a:ext cx="3839940" cy="2141056"/>
          </a:xfrm>
          <a:prstGeom prst="rect">
            <a:avLst/>
          </a:prstGeom>
          <a:noFill/>
          <a:ln w="12700">
            <a:solidFill>
              <a:srgbClr val="6464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 descr="Five Central Texas counties now in 'high risk' category for COVID-19">
            <a:extLst>
              <a:ext uri="{FF2B5EF4-FFF2-40B4-BE49-F238E27FC236}">
                <a16:creationId xmlns:a16="http://schemas.microsoft.com/office/drawing/2014/main" id="{4D87F324-0CEA-3D6F-C4A9-BF13AE3F5D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007" y="4196384"/>
            <a:ext cx="3839940" cy="2159966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78954C1-F895-DE36-9053-AE338647F9F4}"/>
              </a:ext>
            </a:extLst>
          </p:cNvPr>
          <p:cNvCxnSpPr>
            <a:stCxn id="36" idx="6"/>
          </p:cNvCxnSpPr>
          <p:nvPr/>
        </p:nvCxnSpPr>
        <p:spPr>
          <a:xfrm flipV="1">
            <a:off x="1699554" y="4818006"/>
            <a:ext cx="490843" cy="1"/>
          </a:xfrm>
          <a:prstGeom prst="line">
            <a:avLst/>
          </a:prstGeom>
          <a:ln w="127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3188047-1160-E0E7-6EC2-D41C51F75A57}"/>
              </a:ext>
            </a:extLst>
          </p:cNvPr>
          <p:cNvCxnSpPr>
            <a:cxnSpLocks/>
            <a:stCxn id="36" idx="4"/>
            <a:endCxn id="37" idx="0"/>
          </p:cNvCxnSpPr>
          <p:nvPr/>
        </p:nvCxnSpPr>
        <p:spPr>
          <a:xfrm>
            <a:off x="1620806" y="4896754"/>
            <a:ext cx="334798" cy="368616"/>
          </a:xfrm>
          <a:prstGeom prst="line">
            <a:avLst/>
          </a:prstGeom>
          <a:ln w="127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F8E0461-0FEB-C1C8-166F-A1217D88A27C}"/>
              </a:ext>
            </a:extLst>
          </p:cNvPr>
          <p:cNvCxnSpPr>
            <a:cxnSpLocks/>
            <a:endCxn id="39" idx="2"/>
          </p:cNvCxnSpPr>
          <p:nvPr/>
        </p:nvCxnSpPr>
        <p:spPr>
          <a:xfrm>
            <a:off x="2034352" y="5342276"/>
            <a:ext cx="506786" cy="124070"/>
          </a:xfrm>
          <a:prstGeom prst="line">
            <a:avLst/>
          </a:prstGeom>
          <a:ln w="127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A527BB8-3AC2-D487-60D5-4729B1B312E5}"/>
              </a:ext>
            </a:extLst>
          </p:cNvPr>
          <p:cNvCxnSpPr>
            <a:cxnSpLocks/>
            <a:endCxn id="38" idx="4"/>
          </p:cNvCxnSpPr>
          <p:nvPr/>
        </p:nvCxnSpPr>
        <p:spPr>
          <a:xfrm flipV="1">
            <a:off x="1965085" y="4907384"/>
            <a:ext cx="304061" cy="354313"/>
          </a:xfrm>
          <a:prstGeom prst="line">
            <a:avLst/>
          </a:prstGeom>
          <a:ln w="127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9F15013-D6D9-B8EB-9E6A-837DCE86D660}"/>
              </a:ext>
            </a:extLst>
          </p:cNvPr>
          <p:cNvCxnSpPr>
            <a:cxnSpLocks/>
            <a:endCxn id="40" idx="2"/>
          </p:cNvCxnSpPr>
          <p:nvPr/>
        </p:nvCxnSpPr>
        <p:spPr>
          <a:xfrm>
            <a:off x="2698635" y="5490584"/>
            <a:ext cx="326099" cy="236161"/>
          </a:xfrm>
          <a:prstGeom prst="line">
            <a:avLst/>
          </a:prstGeom>
          <a:ln w="127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2086E4E-CE92-45E7-AAB2-C8D03F1B7FE7}"/>
              </a:ext>
            </a:extLst>
          </p:cNvPr>
          <p:cNvCxnSpPr>
            <a:cxnSpLocks/>
            <a:endCxn id="38" idx="4"/>
          </p:cNvCxnSpPr>
          <p:nvPr/>
        </p:nvCxnSpPr>
        <p:spPr>
          <a:xfrm flipH="1" flipV="1">
            <a:off x="2269145" y="4907384"/>
            <a:ext cx="345188" cy="480213"/>
          </a:xfrm>
          <a:prstGeom prst="line">
            <a:avLst/>
          </a:prstGeom>
          <a:ln w="127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F77EC3A-77DB-371D-8B7D-CC68B325A58A}"/>
              </a:ext>
            </a:extLst>
          </p:cNvPr>
          <p:cNvCxnSpPr>
            <a:cxnSpLocks/>
            <a:stCxn id="39" idx="0"/>
          </p:cNvCxnSpPr>
          <p:nvPr/>
        </p:nvCxnSpPr>
        <p:spPr>
          <a:xfrm flipV="1">
            <a:off x="2619887" y="4797434"/>
            <a:ext cx="275737" cy="590164"/>
          </a:xfrm>
          <a:prstGeom prst="line">
            <a:avLst/>
          </a:prstGeom>
          <a:ln w="127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0420C69-20A0-8A41-2489-B94C28AE4C75}"/>
              </a:ext>
            </a:extLst>
          </p:cNvPr>
          <p:cNvCxnSpPr>
            <a:cxnSpLocks/>
            <a:endCxn id="43" idx="2"/>
          </p:cNvCxnSpPr>
          <p:nvPr/>
        </p:nvCxnSpPr>
        <p:spPr>
          <a:xfrm flipV="1">
            <a:off x="2354579" y="4711721"/>
            <a:ext cx="473531" cy="106285"/>
          </a:xfrm>
          <a:prstGeom prst="line">
            <a:avLst/>
          </a:prstGeom>
          <a:ln w="127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3498E8A-51C3-78FF-C8DC-643E994156BC}"/>
              </a:ext>
            </a:extLst>
          </p:cNvPr>
          <p:cNvCxnSpPr>
            <a:cxnSpLocks/>
            <a:stCxn id="44" idx="2"/>
            <a:endCxn id="43" idx="6"/>
          </p:cNvCxnSpPr>
          <p:nvPr/>
        </p:nvCxnSpPr>
        <p:spPr>
          <a:xfrm flipH="1" flipV="1">
            <a:off x="2985607" y="4711721"/>
            <a:ext cx="379244" cy="196627"/>
          </a:xfrm>
          <a:prstGeom prst="line">
            <a:avLst/>
          </a:prstGeom>
          <a:ln w="127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3CD9736-9E30-6CCD-2783-91F9EC8BF1DD}"/>
              </a:ext>
            </a:extLst>
          </p:cNvPr>
          <p:cNvCxnSpPr>
            <a:cxnSpLocks/>
          </p:cNvCxnSpPr>
          <p:nvPr/>
        </p:nvCxnSpPr>
        <p:spPr>
          <a:xfrm flipH="1" flipV="1">
            <a:off x="3441669" y="4994202"/>
            <a:ext cx="33816" cy="360380"/>
          </a:xfrm>
          <a:prstGeom prst="line">
            <a:avLst/>
          </a:prstGeom>
          <a:ln w="127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DBF040F-9A73-38A1-762A-4B6114260897}"/>
              </a:ext>
            </a:extLst>
          </p:cNvPr>
          <p:cNvCxnSpPr>
            <a:cxnSpLocks/>
            <a:stCxn id="42" idx="2"/>
          </p:cNvCxnSpPr>
          <p:nvPr/>
        </p:nvCxnSpPr>
        <p:spPr>
          <a:xfrm flipH="1">
            <a:off x="2704316" y="5439774"/>
            <a:ext cx="692420" cy="50810"/>
          </a:xfrm>
          <a:prstGeom prst="line">
            <a:avLst/>
          </a:prstGeom>
          <a:ln w="127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105D496-8301-BD7E-4089-1C5941C5E188}"/>
              </a:ext>
            </a:extLst>
          </p:cNvPr>
          <p:cNvCxnSpPr>
            <a:cxnSpLocks/>
            <a:stCxn id="42" idx="2"/>
          </p:cNvCxnSpPr>
          <p:nvPr/>
        </p:nvCxnSpPr>
        <p:spPr>
          <a:xfrm flipH="1" flipV="1">
            <a:off x="2901177" y="4798440"/>
            <a:ext cx="495559" cy="641334"/>
          </a:xfrm>
          <a:prstGeom prst="line">
            <a:avLst/>
          </a:prstGeom>
          <a:ln w="127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03B1696-220C-6C92-0D70-990D1BAF6637}"/>
              </a:ext>
            </a:extLst>
          </p:cNvPr>
          <p:cNvCxnSpPr>
            <a:cxnSpLocks/>
            <a:stCxn id="42" idx="2"/>
          </p:cNvCxnSpPr>
          <p:nvPr/>
        </p:nvCxnSpPr>
        <p:spPr>
          <a:xfrm flipH="1">
            <a:off x="3185000" y="5439774"/>
            <a:ext cx="211737" cy="287065"/>
          </a:xfrm>
          <a:prstGeom prst="line">
            <a:avLst/>
          </a:prstGeom>
          <a:ln w="127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79B749B-4456-854E-6238-81AD3B999DFB}"/>
              </a:ext>
            </a:extLst>
          </p:cNvPr>
          <p:cNvCxnSpPr>
            <a:cxnSpLocks/>
            <a:stCxn id="41" idx="2"/>
          </p:cNvCxnSpPr>
          <p:nvPr/>
        </p:nvCxnSpPr>
        <p:spPr>
          <a:xfrm flipH="1" flipV="1">
            <a:off x="3185000" y="5738151"/>
            <a:ext cx="333962" cy="280877"/>
          </a:xfrm>
          <a:prstGeom prst="line">
            <a:avLst/>
          </a:prstGeom>
          <a:ln w="127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42070B6-1DC5-81CD-CAF8-CB1F2BA5F1EE}"/>
              </a:ext>
            </a:extLst>
          </p:cNvPr>
          <p:cNvCxnSpPr>
            <a:cxnSpLocks/>
            <a:stCxn id="42" idx="4"/>
          </p:cNvCxnSpPr>
          <p:nvPr/>
        </p:nvCxnSpPr>
        <p:spPr>
          <a:xfrm>
            <a:off x="3475485" y="5518522"/>
            <a:ext cx="103020" cy="421757"/>
          </a:xfrm>
          <a:prstGeom prst="line">
            <a:avLst/>
          </a:prstGeom>
          <a:ln w="127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4CF83B0-1607-9D93-F2DB-595DC94BF2AF}"/>
              </a:ext>
            </a:extLst>
          </p:cNvPr>
          <p:cNvCxnSpPr>
            <a:cxnSpLocks/>
            <a:stCxn id="45" idx="3"/>
          </p:cNvCxnSpPr>
          <p:nvPr/>
        </p:nvCxnSpPr>
        <p:spPr>
          <a:xfrm flipH="1">
            <a:off x="3676459" y="5771799"/>
            <a:ext cx="264140" cy="248194"/>
          </a:xfrm>
          <a:prstGeom prst="line">
            <a:avLst/>
          </a:prstGeom>
          <a:ln w="127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2B12A4F-C7B7-1ECA-CC6A-4480F5FAFD4D}"/>
              </a:ext>
            </a:extLst>
          </p:cNvPr>
          <p:cNvCxnSpPr>
            <a:cxnSpLocks/>
            <a:stCxn id="45" idx="2"/>
          </p:cNvCxnSpPr>
          <p:nvPr/>
        </p:nvCxnSpPr>
        <p:spPr>
          <a:xfrm flipH="1" flipV="1">
            <a:off x="3553872" y="5437989"/>
            <a:ext cx="363663" cy="278126"/>
          </a:xfrm>
          <a:prstGeom prst="line">
            <a:avLst/>
          </a:prstGeom>
          <a:ln w="127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2B6F185-2F2C-62FC-6995-7D3E6C93D4E5}"/>
              </a:ext>
            </a:extLst>
          </p:cNvPr>
          <p:cNvCxnSpPr>
            <a:cxnSpLocks/>
            <a:stCxn id="47" idx="2"/>
          </p:cNvCxnSpPr>
          <p:nvPr/>
        </p:nvCxnSpPr>
        <p:spPr>
          <a:xfrm flipH="1" flipV="1">
            <a:off x="4055703" y="5772786"/>
            <a:ext cx="302916" cy="278127"/>
          </a:xfrm>
          <a:prstGeom prst="line">
            <a:avLst/>
          </a:prstGeom>
          <a:ln w="127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1A273A4-C267-C8A0-87D7-959B5C09D303}"/>
              </a:ext>
            </a:extLst>
          </p:cNvPr>
          <p:cNvCxnSpPr>
            <a:cxnSpLocks/>
            <a:stCxn id="46" idx="2"/>
          </p:cNvCxnSpPr>
          <p:nvPr/>
        </p:nvCxnSpPr>
        <p:spPr>
          <a:xfrm flipH="1">
            <a:off x="4055703" y="5391949"/>
            <a:ext cx="313545" cy="289592"/>
          </a:xfrm>
          <a:prstGeom prst="line">
            <a:avLst/>
          </a:prstGeom>
          <a:ln w="127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4B75BA2-9C32-D49B-2B7E-BC85FAD24B29}"/>
              </a:ext>
            </a:extLst>
          </p:cNvPr>
          <p:cNvCxnSpPr>
            <a:cxnSpLocks/>
            <a:stCxn id="46" idx="2"/>
          </p:cNvCxnSpPr>
          <p:nvPr/>
        </p:nvCxnSpPr>
        <p:spPr>
          <a:xfrm flipH="1" flipV="1">
            <a:off x="3526817" y="4905999"/>
            <a:ext cx="842430" cy="485950"/>
          </a:xfrm>
          <a:prstGeom prst="line">
            <a:avLst/>
          </a:prstGeom>
          <a:ln w="127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330F11A-2E3B-DA99-D568-2DCCBA7BABF1}"/>
              </a:ext>
            </a:extLst>
          </p:cNvPr>
          <p:cNvCxnSpPr>
            <a:cxnSpLocks/>
            <a:stCxn id="47" idx="0"/>
          </p:cNvCxnSpPr>
          <p:nvPr/>
        </p:nvCxnSpPr>
        <p:spPr>
          <a:xfrm flipV="1">
            <a:off x="4437368" y="5470697"/>
            <a:ext cx="10628" cy="501468"/>
          </a:xfrm>
          <a:prstGeom prst="line">
            <a:avLst/>
          </a:prstGeom>
          <a:ln w="127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C9B38908-1D3F-BA48-ABFA-5A33D395FC7B}"/>
              </a:ext>
            </a:extLst>
          </p:cNvPr>
          <p:cNvSpPr/>
          <p:nvPr/>
        </p:nvSpPr>
        <p:spPr>
          <a:xfrm>
            <a:off x="1542057" y="4739258"/>
            <a:ext cx="157497" cy="157497"/>
          </a:xfrm>
          <a:prstGeom prst="ellipse">
            <a:avLst/>
          </a:prstGeom>
          <a:solidFill>
            <a:schemeClr val="bg1"/>
          </a:solidFill>
          <a:ln w="12700">
            <a:solidFill>
              <a:srgbClr val="6464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1B9C47F-682A-F9F3-E838-3FDB6DDF8E07}"/>
              </a:ext>
            </a:extLst>
          </p:cNvPr>
          <p:cNvSpPr/>
          <p:nvPr/>
        </p:nvSpPr>
        <p:spPr>
          <a:xfrm>
            <a:off x="1876855" y="5265370"/>
            <a:ext cx="157497" cy="157497"/>
          </a:xfrm>
          <a:prstGeom prst="ellipse">
            <a:avLst/>
          </a:prstGeom>
          <a:solidFill>
            <a:schemeClr val="bg1"/>
          </a:solidFill>
          <a:ln w="12700">
            <a:solidFill>
              <a:srgbClr val="6464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F00F85A-C8EF-F3FF-3F58-3DFEF959AFE5}"/>
              </a:ext>
            </a:extLst>
          </p:cNvPr>
          <p:cNvSpPr/>
          <p:nvPr/>
        </p:nvSpPr>
        <p:spPr>
          <a:xfrm>
            <a:off x="2190396" y="4749888"/>
            <a:ext cx="157497" cy="157497"/>
          </a:xfrm>
          <a:prstGeom prst="ellipse">
            <a:avLst/>
          </a:prstGeom>
          <a:solidFill>
            <a:schemeClr val="bg1"/>
          </a:solidFill>
          <a:ln w="12700">
            <a:solidFill>
              <a:srgbClr val="6464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5AEA904-C014-4AB6-960E-3E32FDDDF644}"/>
              </a:ext>
            </a:extLst>
          </p:cNvPr>
          <p:cNvSpPr/>
          <p:nvPr/>
        </p:nvSpPr>
        <p:spPr>
          <a:xfrm>
            <a:off x="2541138" y="5387598"/>
            <a:ext cx="157497" cy="157497"/>
          </a:xfrm>
          <a:prstGeom prst="ellipse">
            <a:avLst/>
          </a:prstGeom>
          <a:solidFill>
            <a:schemeClr val="bg1"/>
          </a:solidFill>
          <a:ln w="12700">
            <a:solidFill>
              <a:srgbClr val="6464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56AA870-3B7E-680D-F0CC-A9D7A4299FDD}"/>
              </a:ext>
            </a:extLst>
          </p:cNvPr>
          <p:cNvSpPr/>
          <p:nvPr/>
        </p:nvSpPr>
        <p:spPr>
          <a:xfrm>
            <a:off x="3024734" y="5647995"/>
            <a:ext cx="157497" cy="157497"/>
          </a:xfrm>
          <a:prstGeom prst="ellipse">
            <a:avLst/>
          </a:prstGeom>
          <a:solidFill>
            <a:schemeClr val="bg1"/>
          </a:solidFill>
          <a:ln w="12700">
            <a:solidFill>
              <a:srgbClr val="6464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0FFEE73-CE89-6F77-E88E-FFF5D6BBAD50}"/>
              </a:ext>
            </a:extLst>
          </p:cNvPr>
          <p:cNvSpPr/>
          <p:nvPr/>
        </p:nvSpPr>
        <p:spPr>
          <a:xfrm>
            <a:off x="3518962" y="5940279"/>
            <a:ext cx="157497" cy="157497"/>
          </a:xfrm>
          <a:prstGeom prst="ellipse">
            <a:avLst/>
          </a:prstGeom>
          <a:solidFill>
            <a:schemeClr val="bg1"/>
          </a:solidFill>
          <a:ln w="12700">
            <a:solidFill>
              <a:srgbClr val="6464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30FD7F1-1D5C-CA6A-E0A5-DDF69BC5FC2A}"/>
              </a:ext>
            </a:extLst>
          </p:cNvPr>
          <p:cNvSpPr/>
          <p:nvPr/>
        </p:nvSpPr>
        <p:spPr>
          <a:xfrm>
            <a:off x="3396736" y="5361025"/>
            <a:ext cx="157497" cy="157497"/>
          </a:xfrm>
          <a:prstGeom prst="ellipse">
            <a:avLst/>
          </a:prstGeom>
          <a:solidFill>
            <a:schemeClr val="bg1"/>
          </a:solidFill>
          <a:ln w="12700">
            <a:solidFill>
              <a:srgbClr val="6464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F1C28A7-2A6E-6B25-71C5-13287E006784}"/>
              </a:ext>
            </a:extLst>
          </p:cNvPr>
          <p:cNvSpPr/>
          <p:nvPr/>
        </p:nvSpPr>
        <p:spPr>
          <a:xfrm>
            <a:off x="2828110" y="4632972"/>
            <a:ext cx="157497" cy="157497"/>
          </a:xfrm>
          <a:prstGeom prst="ellipse">
            <a:avLst/>
          </a:prstGeom>
          <a:solidFill>
            <a:schemeClr val="bg1"/>
          </a:solidFill>
          <a:ln w="12700">
            <a:solidFill>
              <a:srgbClr val="6464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05AC79C-9C31-03AD-22C8-BC69608ABF05}"/>
              </a:ext>
            </a:extLst>
          </p:cNvPr>
          <p:cNvSpPr/>
          <p:nvPr/>
        </p:nvSpPr>
        <p:spPr>
          <a:xfrm>
            <a:off x="3364850" y="4829600"/>
            <a:ext cx="157497" cy="157497"/>
          </a:xfrm>
          <a:prstGeom prst="ellipse">
            <a:avLst/>
          </a:prstGeom>
          <a:solidFill>
            <a:schemeClr val="bg1"/>
          </a:solidFill>
          <a:ln w="12700">
            <a:solidFill>
              <a:srgbClr val="6464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A430ED9-B423-3685-0F07-4A3B52FD89DC}"/>
              </a:ext>
            </a:extLst>
          </p:cNvPr>
          <p:cNvSpPr/>
          <p:nvPr/>
        </p:nvSpPr>
        <p:spPr>
          <a:xfrm>
            <a:off x="3917534" y="5637366"/>
            <a:ext cx="157497" cy="157497"/>
          </a:xfrm>
          <a:prstGeom prst="ellipse">
            <a:avLst/>
          </a:prstGeom>
          <a:solidFill>
            <a:schemeClr val="bg1"/>
          </a:solidFill>
          <a:ln w="12700">
            <a:solidFill>
              <a:srgbClr val="6464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1294124-F451-6662-4091-D6B0A6D89981}"/>
              </a:ext>
            </a:extLst>
          </p:cNvPr>
          <p:cNvSpPr/>
          <p:nvPr/>
        </p:nvSpPr>
        <p:spPr>
          <a:xfrm>
            <a:off x="4369247" y="5313200"/>
            <a:ext cx="157497" cy="157497"/>
          </a:xfrm>
          <a:prstGeom prst="ellipse">
            <a:avLst/>
          </a:prstGeom>
          <a:solidFill>
            <a:schemeClr val="bg1"/>
          </a:solidFill>
          <a:ln w="12700">
            <a:solidFill>
              <a:srgbClr val="6464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B09984A-CC44-11DA-C55F-DC23C556E9CD}"/>
              </a:ext>
            </a:extLst>
          </p:cNvPr>
          <p:cNvSpPr/>
          <p:nvPr/>
        </p:nvSpPr>
        <p:spPr>
          <a:xfrm>
            <a:off x="4358619" y="5972164"/>
            <a:ext cx="157497" cy="157497"/>
          </a:xfrm>
          <a:prstGeom prst="ellipse">
            <a:avLst/>
          </a:prstGeom>
          <a:solidFill>
            <a:schemeClr val="bg1"/>
          </a:solidFill>
          <a:ln w="12700">
            <a:solidFill>
              <a:srgbClr val="6464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84DCA48-C0CD-FC03-56C9-082C93325119}"/>
              </a:ext>
            </a:extLst>
          </p:cNvPr>
          <p:cNvSpPr txBox="1"/>
          <p:nvPr/>
        </p:nvSpPr>
        <p:spPr>
          <a:xfrm>
            <a:off x="7106734" y="4307708"/>
            <a:ext cx="2248470" cy="33855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venir Light" panose="020B0402020203020204" pitchFamily="34" charset="77"/>
                <a:ea typeface="Helvetica Neue Light" panose="02000403000000020004" pitchFamily="2" charset="0"/>
              </a:rPr>
              <a:t>County-Level View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1063D8C-7A04-25D6-26B4-D70FA24C266E}"/>
              </a:ext>
            </a:extLst>
          </p:cNvPr>
          <p:cNvSpPr/>
          <p:nvPr/>
        </p:nvSpPr>
        <p:spPr>
          <a:xfrm>
            <a:off x="7657337" y="4828442"/>
            <a:ext cx="434207" cy="453452"/>
          </a:xfrm>
          <a:prstGeom prst="ellipse">
            <a:avLst/>
          </a:prstGeom>
          <a:solidFill>
            <a:srgbClr val="E1EFFB"/>
          </a:solidFill>
          <a:ln>
            <a:solidFill>
              <a:srgbClr val="6464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F33796E-5853-4318-705E-4B493DC9ECDB}"/>
              </a:ext>
            </a:extLst>
          </p:cNvPr>
          <p:cNvCxnSpPr>
            <a:stCxn id="10" idx="6"/>
            <a:endCxn id="49" idx="2"/>
          </p:cNvCxnSpPr>
          <p:nvPr/>
        </p:nvCxnSpPr>
        <p:spPr>
          <a:xfrm>
            <a:off x="7181890" y="5051682"/>
            <a:ext cx="475447" cy="3486"/>
          </a:xfrm>
          <a:prstGeom prst="line">
            <a:avLst/>
          </a:prstGeom>
          <a:ln>
            <a:solidFill>
              <a:srgbClr val="646464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8409D35-F27B-2816-9315-7A78392595E7}"/>
              </a:ext>
            </a:extLst>
          </p:cNvPr>
          <p:cNvCxnSpPr>
            <a:cxnSpLocks/>
            <a:stCxn id="49" idx="6"/>
          </p:cNvCxnSpPr>
          <p:nvPr/>
        </p:nvCxnSpPr>
        <p:spPr>
          <a:xfrm>
            <a:off x="8091544" y="5055168"/>
            <a:ext cx="436573" cy="0"/>
          </a:xfrm>
          <a:prstGeom prst="line">
            <a:avLst/>
          </a:prstGeom>
          <a:ln>
            <a:solidFill>
              <a:srgbClr val="646464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2649BA95-2F97-5E64-BA28-469582DD0DFA}"/>
              </a:ext>
            </a:extLst>
          </p:cNvPr>
          <p:cNvSpPr txBox="1"/>
          <p:nvPr/>
        </p:nvSpPr>
        <p:spPr>
          <a:xfrm>
            <a:off x="6813030" y="4881818"/>
            <a:ext cx="322398" cy="372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600" dirty="0">
                <a:latin typeface="Avenir Light" panose="020B0402020203020204" pitchFamily="34" charset="77"/>
                <a:ea typeface="Helvetica Neue Light" panose="02000403000000020004" pitchFamily="2" charset="0"/>
              </a:rPr>
              <a:t>S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7B55792F-EC27-F030-C13A-23D98EA789B5}"/>
              </a:ext>
            </a:extLst>
          </p:cNvPr>
          <p:cNvSpPr/>
          <p:nvPr/>
        </p:nvSpPr>
        <p:spPr>
          <a:xfrm>
            <a:off x="8549187" y="4824956"/>
            <a:ext cx="434207" cy="453452"/>
          </a:xfrm>
          <a:prstGeom prst="ellipse">
            <a:avLst/>
          </a:prstGeom>
          <a:solidFill>
            <a:srgbClr val="E1EFFB"/>
          </a:solidFill>
          <a:ln>
            <a:solidFill>
              <a:srgbClr val="6464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F90614A-62FA-009B-5606-8364D63F9CDE}"/>
              </a:ext>
            </a:extLst>
          </p:cNvPr>
          <p:cNvSpPr txBox="1"/>
          <p:nvPr/>
        </p:nvSpPr>
        <p:spPr>
          <a:xfrm>
            <a:off x="7722683" y="4881818"/>
            <a:ext cx="322398" cy="372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600" dirty="0">
                <a:latin typeface="Avenir Light" panose="020B0402020203020204" pitchFamily="34" charset="77"/>
                <a:ea typeface="Helvetica Neue Light" panose="02000403000000020004" pitchFamily="2" charset="0"/>
              </a:rPr>
              <a:t>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7909204-AD69-6AA1-655E-288B4936E3A6}"/>
              </a:ext>
            </a:extLst>
          </p:cNvPr>
          <p:cNvSpPr txBox="1"/>
          <p:nvPr/>
        </p:nvSpPr>
        <p:spPr>
          <a:xfrm>
            <a:off x="8644369" y="4875850"/>
            <a:ext cx="322398" cy="372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600" dirty="0">
                <a:latin typeface="Avenir Light" panose="020B0402020203020204" pitchFamily="34" charset="77"/>
                <a:ea typeface="Helvetica Neue Light" panose="02000403000000020004" pitchFamily="2" charset="0"/>
              </a:rPr>
              <a:t>I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947DF3BF-C479-C6C9-3300-C31B692B6FB6}"/>
              </a:ext>
            </a:extLst>
          </p:cNvPr>
          <p:cNvSpPr/>
          <p:nvPr/>
        </p:nvSpPr>
        <p:spPr>
          <a:xfrm>
            <a:off x="9450581" y="4819405"/>
            <a:ext cx="434207" cy="453452"/>
          </a:xfrm>
          <a:prstGeom prst="ellipse">
            <a:avLst/>
          </a:prstGeom>
          <a:solidFill>
            <a:srgbClr val="E1EFFB"/>
          </a:solidFill>
          <a:ln>
            <a:solidFill>
              <a:srgbClr val="6464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DE9FF609-14D6-315B-E7CB-8C15F228D7BE}"/>
              </a:ext>
            </a:extLst>
          </p:cNvPr>
          <p:cNvSpPr txBox="1"/>
          <p:nvPr/>
        </p:nvSpPr>
        <p:spPr>
          <a:xfrm>
            <a:off x="9498601" y="4871423"/>
            <a:ext cx="322398" cy="372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600" dirty="0">
                <a:latin typeface="Avenir Light" panose="020B0402020203020204" pitchFamily="34" charset="77"/>
                <a:ea typeface="Helvetica Neue Light" panose="02000403000000020004" pitchFamily="2" charset="0"/>
              </a:rPr>
              <a:t>H</a:t>
            </a:r>
          </a:p>
        </p:txBody>
      </p:sp>
      <p:cxnSp>
        <p:nvCxnSpPr>
          <p:cNvPr id="1026" name="Straight Connector 1025">
            <a:extLst>
              <a:ext uri="{FF2B5EF4-FFF2-40B4-BE49-F238E27FC236}">
                <a16:creationId xmlns:a16="http://schemas.microsoft.com/office/drawing/2014/main" id="{93CFB25A-6BE4-CA5B-84A2-AB41C812B723}"/>
              </a:ext>
            </a:extLst>
          </p:cNvPr>
          <p:cNvCxnSpPr>
            <a:cxnSpLocks/>
            <a:stCxn id="58" idx="6"/>
            <a:endCxn id="63" idx="2"/>
          </p:cNvCxnSpPr>
          <p:nvPr/>
        </p:nvCxnSpPr>
        <p:spPr>
          <a:xfrm flipV="1">
            <a:off x="8983394" y="5046131"/>
            <a:ext cx="467187" cy="5551"/>
          </a:xfrm>
          <a:prstGeom prst="line">
            <a:avLst/>
          </a:prstGeom>
          <a:ln>
            <a:solidFill>
              <a:srgbClr val="646464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1C06B53-0B23-DC54-9377-D1BCFA1D3B6C}"/>
              </a:ext>
            </a:extLst>
          </p:cNvPr>
          <p:cNvCxnSpPr>
            <a:cxnSpLocks/>
          </p:cNvCxnSpPr>
          <p:nvPr/>
        </p:nvCxnSpPr>
        <p:spPr>
          <a:xfrm flipH="1">
            <a:off x="4566766" y="4894843"/>
            <a:ext cx="1840248" cy="492754"/>
          </a:xfrm>
          <a:prstGeom prst="line">
            <a:avLst/>
          </a:prstGeom>
          <a:ln w="127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223DBF6-B1EE-CD38-AC88-F34DE894CC7A}"/>
              </a:ext>
            </a:extLst>
          </p:cNvPr>
          <p:cNvCxnSpPr>
            <a:cxnSpLocks/>
            <a:endCxn id="46" idx="6"/>
          </p:cNvCxnSpPr>
          <p:nvPr/>
        </p:nvCxnSpPr>
        <p:spPr>
          <a:xfrm flipH="1" flipV="1">
            <a:off x="4526744" y="5391949"/>
            <a:ext cx="1880270" cy="469162"/>
          </a:xfrm>
          <a:prstGeom prst="line">
            <a:avLst/>
          </a:prstGeom>
          <a:ln w="127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9" name="TextBox 1038">
            <a:extLst>
              <a:ext uri="{FF2B5EF4-FFF2-40B4-BE49-F238E27FC236}">
                <a16:creationId xmlns:a16="http://schemas.microsoft.com/office/drawing/2014/main" id="{8DB285ED-19D2-1328-D56C-29EF3FB44B01}"/>
              </a:ext>
            </a:extLst>
          </p:cNvPr>
          <p:cNvSpPr txBox="1"/>
          <p:nvPr/>
        </p:nvSpPr>
        <p:spPr>
          <a:xfrm>
            <a:off x="6759053" y="5508041"/>
            <a:ext cx="16769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venir Light" panose="020B0402020203020204" pitchFamily="34" charset="77"/>
                <a:ea typeface="Helvetica Neue Light" panose="02000403000000020004" pitchFamily="2" charset="0"/>
              </a:rPr>
              <a:t>S: Susceptible</a:t>
            </a:r>
          </a:p>
          <a:p>
            <a:r>
              <a:rPr lang="en-US" sz="1600" dirty="0">
                <a:latin typeface="Avenir Light" panose="020B0402020203020204" pitchFamily="34" charset="77"/>
                <a:ea typeface="Helvetica Neue Light" panose="02000403000000020004" pitchFamily="2" charset="0"/>
              </a:rPr>
              <a:t>E: Exposed</a:t>
            </a:r>
            <a:endParaRPr lang="en-US" dirty="0"/>
          </a:p>
        </p:txBody>
      </p:sp>
      <p:sp>
        <p:nvSpPr>
          <p:cNvPr id="1040" name="TextBox 1039">
            <a:extLst>
              <a:ext uri="{FF2B5EF4-FFF2-40B4-BE49-F238E27FC236}">
                <a16:creationId xmlns:a16="http://schemas.microsoft.com/office/drawing/2014/main" id="{E6B2AFAE-F707-22AB-E44C-1356618B6BB7}"/>
              </a:ext>
            </a:extLst>
          </p:cNvPr>
          <p:cNvSpPr txBox="1"/>
          <p:nvPr/>
        </p:nvSpPr>
        <p:spPr>
          <a:xfrm>
            <a:off x="8480615" y="5508041"/>
            <a:ext cx="16769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venir Light" panose="020B0402020203020204" pitchFamily="34" charset="77"/>
                <a:ea typeface="Helvetica Neue Light" panose="02000403000000020004" pitchFamily="2" charset="0"/>
              </a:rPr>
              <a:t>I: Infected</a:t>
            </a:r>
          </a:p>
          <a:p>
            <a:r>
              <a:rPr lang="en-US" sz="1600" dirty="0">
                <a:latin typeface="Avenir Light" panose="020B0402020203020204" pitchFamily="34" charset="77"/>
                <a:ea typeface="Helvetica Neue Light" panose="02000403000000020004" pitchFamily="2" charset="0"/>
              </a:rPr>
              <a:t>R: Recovered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1" name="object 4">
                <a:extLst>
                  <a:ext uri="{FF2B5EF4-FFF2-40B4-BE49-F238E27FC236}">
                    <a16:creationId xmlns:a16="http://schemas.microsoft.com/office/drawing/2014/main" id="{2CD50F2E-A003-F7AC-D414-019FD3048971}"/>
                  </a:ext>
                </a:extLst>
              </p:cNvPr>
              <p:cNvSpPr txBox="1"/>
              <p:nvPr/>
            </p:nvSpPr>
            <p:spPr>
              <a:xfrm>
                <a:off x="1225231" y="3074454"/>
                <a:ext cx="9776143" cy="722762"/>
              </a:xfrm>
              <a:prstGeom prst="rect">
                <a:avLst/>
              </a:prstGeom>
            </p:spPr>
            <p:txBody>
              <a:bodyPr vert="horz" wrap="square" lIns="0" tIns="15875" rIns="0" bIns="0" rtlCol="0">
                <a:spAutoFit/>
              </a:bodyPr>
              <a:lstStyle/>
              <a:p>
                <a:pPr marL="12700">
                  <a:lnSpc>
                    <a:spcPct val="150000"/>
                  </a:lnSpc>
                  <a:spcBef>
                    <a:spcPts val="125"/>
                  </a:spcBef>
                </a:pPr>
                <a:r>
                  <a:rPr lang="en-US" sz="1600" dirty="0">
                    <a:latin typeface="Avenir Book" panose="02000503020000020003" pitchFamily="2" charset="0"/>
                    <a:cs typeface="Arial" panose="020B0604020202020204" pitchFamily="34" charset="0"/>
                  </a:rPr>
                  <a:t>In the case of disease spread, the state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600" dirty="0">
                    <a:latin typeface="Avenir Book" panose="02000503020000020003" pitchFamily="2" charset="0"/>
                    <a:cs typeface="Arial" panose="020B0604020202020204" pitchFamily="34" charset="0"/>
                  </a:rPr>
                  <a:t> is stratified based on county, tracking a certain number of </a:t>
                </a:r>
                <a:r>
                  <a:rPr lang="en-US" sz="1600" b="1" dirty="0">
                    <a:latin typeface="Avenir Book" panose="02000503020000020003" pitchFamily="2" charset="0"/>
                    <a:cs typeface="Arial" panose="020B0604020202020204" pitchFamily="34" charset="0"/>
                  </a:rPr>
                  <a:t>compartments</a:t>
                </a:r>
                <a:r>
                  <a:rPr lang="en-US" sz="1600" dirty="0">
                    <a:latin typeface="Avenir Book" panose="02000503020000020003" pitchFamily="2" charset="0"/>
                    <a:cs typeface="Arial" panose="020B0604020202020204" pitchFamily="34" charset="0"/>
                  </a:rPr>
                  <a:t> per county. </a:t>
                </a:r>
                <a:endParaRPr sz="1600" dirty="0">
                  <a:latin typeface="Avenir Book" panose="02000503020000020003" pitchFamily="2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41" name="object 4">
                <a:extLst>
                  <a:ext uri="{FF2B5EF4-FFF2-40B4-BE49-F238E27FC236}">
                    <a16:creationId xmlns:a16="http://schemas.microsoft.com/office/drawing/2014/main" id="{2CD50F2E-A003-F7AC-D414-019FD30489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5231" y="3074454"/>
                <a:ext cx="9776143" cy="722762"/>
              </a:xfrm>
              <a:prstGeom prst="rect">
                <a:avLst/>
              </a:prstGeom>
              <a:blipFill>
                <a:blip r:embed="rId6"/>
                <a:stretch>
                  <a:fillRect l="-1167" b="-152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1627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448FB-4E5E-9BB3-7DD2-560484444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3101671-6A5B-64D6-CB87-E5DB49019B43}"/>
              </a:ext>
            </a:extLst>
          </p:cNvPr>
          <p:cNvCxnSpPr/>
          <p:nvPr/>
        </p:nvCxnSpPr>
        <p:spPr>
          <a:xfrm>
            <a:off x="914400" y="1071563"/>
            <a:ext cx="10086975" cy="0"/>
          </a:xfrm>
          <a:prstGeom prst="line">
            <a:avLst/>
          </a:prstGeom>
          <a:ln w="22225">
            <a:solidFill>
              <a:srgbClr val="7F9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18D9D75-46A3-CDF0-9A15-22C14EE7F267}"/>
              </a:ext>
            </a:extLst>
          </p:cNvPr>
          <p:cNvSpPr txBox="1"/>
          <p:nvPr/>
        </p:nvSpPr>
        <p:spPr>
          <a:xfrm>
            <a:off x="914399" y="494912"/>
            <a:ext cx="93297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venir Light" panose="020B0402020203020204" pitchFamily="34" charset="77"/>
              </a:rPr>
              <a:t>Disease Spread as a Dynamical System</a:t>
            </a:r>
          </a:p>
        </p:txBody>
      </p:sp>
      <p:sp>
        <p:nvSpPr>
          <p:cNvPr id="1032" name="Slide Number Placeholder 1031">
            <a:extLst>
              <a:ext uri="{FF2B5EF4-FFF2-40B4-BE49-F238E27FC236}">
                <a16:creationId xmlns:a16="http://schemas.microsoft.com/office/drawing/2014/main" id="{482ACFD1-A83C-27B8-E6E1-C9947BC16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78B8C-3A5C-324B-A3F5-C0AF7DCE0B23}" type="slidenum">
              <a:rPr lang="en-US" smtClean="0"/>
              <a:t>10</a:t>
            </a:fld>
            <a:endParaRPr lang="en-US"/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AFD8E921-9D44-1CDB-7B3E-CEE35338E256}"/>
              </a:ext>
            </a:extLst>
          </p:cNvPr>
          <p:cNvSpPr txBox="1"/>
          <p:nvPr/>
        </p:nvSpPr>
        <p:spPr>
          <a:xfrm>
            <a:off x="1225231" y="1320748"/>
            <a:ext cx="9776143" cy="353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25"/>
              </a:spcBef>
            </a:pPr>
            <a:r>
              <a:rPr lang="en-US" sz="1600" dirty="0">
                <a:latin typeface="Avenir Book" panose="02000503020000020003" pitchFamily="2" charset="0"/>
                <a:cs typeface="Arial" panose="020B0604020202020204" pitchFamily="34" charset="0"/>
              </a:rPr>
              <a:t>In a modeling context, disease spread is formulated as a dynamical system in time:</a:t>
            </a:r>
            <a:endParaRPr sz="16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15B3A33-A108-ECAB-9A1F-E45174550AF2}"/>
                  </a:ext>
                </a:extLst>
              </p:cNvPr>
              <p:cNvSpPr txBox="1"/>
              <p:nvPr/>
            </p:nvSpPr>
            <p:spPr>
              <a:xfrm>
                <a:off x="1225231" y="1923362"/>
                <a:ext cx="153330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15B3A33-A108-ECAB-9A1F-E45174550A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5231" y="1923362"/>
                <a:ext cx="1533304" cy="307777"/>
              </a:xfrm>
              <a:prstGeom prst="rect">
                <a:avLst/>
              </a:prstGeom>
              <a:blipFill>
                <a:blip r:embed="rId3"/>
                <a:stretch>
                  <a:fillRect l="-3279" t="-36000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4">
                <a:extLst>
                  <a:ext uri="{FF2B5EF4-FFF2-40B4-BE49-F238E27FC236}">
                    <a16:creationId xmlns:a16="http://schemas.microsoft.com/office/drawing/2014/main" id="{5DE94D38-C6CF-53FD-C659-B7F0ADFDE24A}"/>
                  </a:ext>
                </a:extLst>
              </p:cNvPr>
              <p:cNvSpPr txBox="1"/>
              <p:nvPr/>
            </p:nvSpPr>
            <p:spPr>
              <a:xfrm>
                <a:off x="1225231" y="2504024"/>
                <a:ext cx="9776143" cy="351250"/>
              </a:xfrm>
              <a:prstGeom prst="rect">
                <a:avLst/>
              </a:prstGeom>
            </p:spPr>
            <p:txBody>
              <a:bodyPr vert="horz" wrap="square" lIns="0" tIns="15875" rIns="0" bIns="0" rtlCol="0">
                <a:spAutoFit/>
              </a:bodyPr>
              <a:lstStyle/>
              <a:p>
                <a:pPr marL="12700">
                  <a:lnSpc>
                    <a:spcPct val="150000"/>
                  </a:lnSpc>
                  <a:spcBef>
                    <a:spcPts val="125"/>
                  </a:spcBef>
                </a:pPr>
                <a:r>
                  <a:rPr lang="en-US" sz="1600" dirty="0">
                    <a:latin typeface="Avenir Book" panose="02000503020000020003" pitchFamily="2" charset="0"/>
                    <a:cs typeface="Arial" panose="020B0604020202020204" pitchFamily="34" charset="0"/>
                  </a:rPr>
                  <a:t>In this equation,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600" dirty="0">
                    <a:latin typeface="Avenir Book" panose="02000503020000020003" pitchFamily="2" charset="0"/>
                    <a:cs typeface="Arial" panose="020B0604020202020204" pitchFamily="34" charset="0"/>
                  </a:rPr>
                  <a:t> is the state vector, and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1600" dirty="0">
                    <a:latin typeface="Avenir Book" panose="02000503020000020003" pitchFamily="2" charset="0"/>
                    <a:cs typeface="Arial" panose="020B0604020202020204" pitchFamily="34" charset="0"/>
                  </a:rPr>
                  <a:t> is a function that maps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600" dirty="0">
                    <a:latin typeface="Avenir Book" panose="02000503020000020003" pitchFamily="2" charset="0"/>
                    <a:cs typeface="Arial" panose="020B0604020202020204" pitchFamily="34" charset="0"/>
                  </a:rPr>
                  <a:t> from time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600" dirty="0">
                    <a:latin typeface="Avenir Book" panose="02000503020000020003" pitchFamily="2" charset="0"/>
                    <a:cs typeface="Arial" panose="020B0604020202020204" pitchFamily="34" charset="0"/>
                  </a:rPr>
                  <a:t> to time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1600" dirty="0">
                    <a:latin typeface="Avenir Book" panose="02000503020000020003" pitchFamily="2" charset="0"/>
                    <a:cs typeface="Arial" panose="020B0604020202020204" pitchFamily="34" charset="0"/>
                  </a:rPr>
                  <a:t>.</a:t>
                </a:r>
                <a:endParaRPr sz="1600" dirty="0">
                  <a:latin typeface="Avenir Book" panose="02000503020000020003" pitchFamily="2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object 4">
                <a:extLst>
                  <a:ext uri="{FF2B5EF4-FFF2-40B4-BE49-F238E27FC236}">
                    <a16:creationId xmlns:a16="http://schemas.microsoft.com/office/drawing/2014/main" id="{5DE94D38-C6CF-53FD-C659-B7F0ADFDE2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5231" y="2504024"/>
                <a:ext cx="9776143" cy="351250"/>
              </a:xfrm>
              <a:prstGeom prst="rect">
                <a:avLst/>
              </a:prstGeom>
              <a:blipFill>
                <a:blip r:embed="rId4"/>
                <a:stretch>
                  <a:fillRect l="-1167" b="-39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bject 20">
            <a:extLst>
              <a:ext uri="{FF2B5EF4-FFF2-40B4-BE49-F238E27FC236}">
                <a16:creationId xmlns:a16="http://schemas.microsoft.com/office/drawing/2014/main" id="{D180DBAA-3B3E-B27F-2283-5C31F3CD7D58}"/>
              </a:ext>
            </a:extLst>
          </p:cNvPr>
          <p:cNvSpPr/>
          <p:nvPr/>
        </p:nvSpPr>
        <p:spPr>
          <a:xfrm>
            <a:off x="6166569" y="4313623"/>
            <a:ext cx="150068" cy="722762"/>
          </a:xfrm>
          <a:custGeom>
            <a:avLst/>
            <a:gdLst/>
            <a:ahLst/>
            <a:cxnLst/>
            <a:rect l="l" t="t" r="r" b="b"/>
            <a:pathLst>
              <a:path w="53340" h="375920">
                <a:moveTo>
                  <a:pt x="53086" y="0"/>
                </a:moveTo>
                <a:lnTo>
                  <a:pt x="0" y="0"/>
                </a:lnTo>
                <a:lnTo>
                  <a:pt x="0" y="10160"/>
                </a:lnTo>
                <a:lnTo>
                  <a:pt x="32385" y="10160"/>
                </a:lnTo>
                <a:lnTo>
                  <a:pt x="32385" y="365760"/>
                </a:lnTo>
                <a:lnTo>
                  <a:pt x="0" y="365760"/>
                </a:lnTo>
                <a:lnTo>
                  <a:pt x="0" y="375920"/>
                </a:lnTo>
                <a:lnTo>
                  <a:pt x="53086" y="375920"/>
                </a:lnTo>
                <a:lnTo>
                  <a:pt x="53086" y="365760"/>
                </a:lnTo>
                <a:lnTo>
                  <a:pt x="53086" y="10160"/>
                </a:lnTo>
                <a:lnTo>
                  <a:pt x="530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FBE7159-83B3-40A3-4B59-95AD4B4F1DD2}"/>
                  </a:ext>
                </a:extLst>
              </p:cNvPr>
              <p:cNvSpPr txBox="1"/>
              <p:nvPr/>
            </p:nvSpPr>
            <p:spPr>
              <a:xfrm>
                <a:off x="1225231" y="4489338"/>
                <a:ext cx="58593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FBE7159-83B3-40A3-4B59-95AD4B4F1D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5231" y="4489338"/>
                <a:ext cx="585930" cy="307777"/>
              </a:xfrm>
              <a:prstGeom prst="rect">
                <a:avLst/>
              </a:prstGeom>
              <a:blipFill>
                <a:blip r:embed="rId5"/>
                <a:stretch>
                  <a:fillRect l="-10638" t="-36000" r="-4255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3A7FE75-13AE-6033-4B53-D619FCE29D35}"/>
                  </a:ext>
                </a:extLst>
              </p:cNvPr>
              <p:cNvSpPr txBox="1"/>
              <p:nvPr/>
            </p:nvSpPr>
            <p:spPr>
              <a:xfrm>
                <a:off x="2125562" y="4413831"/>
                <a:ext cx="475836" cy="3737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3A7FE75-13AE-6033-4B53-D619FCE29D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5562" y="4413831"/>
                <a:ext cx="475836" cy="373757"/>
              </a:xfrm>
              <a:prstGeom prst="rect">
                <a:avLst/>
              </a:prstGeom>
              <a:blipFill>
                <a:blip r:embed="rId6"/>
                <a:stretch>
                  <a:fillRect l="-13158" t="-3333" r="-10526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AEC31BF-BE51-5A6E-FDFA-6662C87CF316}"/>
                  </a:ext>
                </a:extLst>
              </p:cNvPr>
              <p:cNvSpPr txBox="1"/>
              <p:nvPr/>
            </p:nvSpPr>
            <p:spPr>
              <a:xfrm>
                <a:off x="2696600" y="4413831"/>
                <a:ext cx="496739" cy="3737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AEC31BF-BE51-5A6E-FDFA-6662C87CF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6600" y="4413831"/>
                <a:ext cx="496739" cy="373757"/>
              </a:xfrm>
              <a:prstGeom prst="rect">
                <a:avLst/>
              </a:prstGeom>
              <a:blipFill>
                <a:blip r:embed="rId7"/>
                <a:stretch>
                  <a:fillRect l="-12500" t="-3333" r="-10000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DC86218-1E97-52C8-D507-3ED7C2EC2528}"/>
                  </a:ext>
                </a:extLst>
              </p:cNvPr>
              <p:cNvSpPr txBox="1"/>
              <p:nvPr/>
            </p:nvSpPr>
            <p:spPr>
              <a:xfrm>
                <a:off x="3338652" y="4413831"/>
                <a:ext cx="432361" cy="3737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DC86218-1E97-52C8-D507-3ED7C2EC25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8652" y="4413831"/>
                <a:ext cx="432361" cy="373757"/>
              </a:xfrm>
              <a:prstGeom prst="rect">
                <a:avLst/>
              </a:prstGeom>
              <a:blipFill>
                <a:blip r:embed="rId8"/>
                <a:stretch>
                  <a:fillRect l="-14286" t="-3333" r="-8571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42983776-5AB4-095A-62D7-B7775D65351D}"/>
                  </a:ext>
                </a:extLst>
              </p:cNvPr>
              <p:cNvSpPr txBox="1"/>
              <p:nvPr/>
            </p:nvSpPr>
            <p:spPr>
              <a:xfrm>
                <a:off x="3949418" y="4413830"/>
                <a:ext cx="497444" cy="3737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42983776-5AB4-095A-62D7-B7775D653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9418" y="4413830"/>
                <a:ext cx="497444" cy="373757"/>
              </a:xfrm>
              <a:prstGeom prst="rect">
                <a:avLst/>
              </a:prstGeom>
              <a:blipFill>
                <a:blip r:embed="rId9"/>
                <a:stretch>
                  <a:fillRect l="-12821" t="-3333" r="-12821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0E353B8-71C1-4ABB-B94A-2FC1EB2CE052}"/>
                  </a:ext>
                </a:extLst>
              </p:cNvPr>
              <p:cNvSpPr txBox="1"/>
              <p:nvPr/>
            </p:nvSpPr>
            <p:spPr>
              <a:xfrm>
                <a:off x="4580541" y="4401306"/>
                <a:ext cx="475836" cy="3737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0E353B8-71C1-4ABB-B94A-2FC1EB2CE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0541" y="4401306"/>
                <a:ext cx="475836" cy="373757"/>
              </a:xfrm>
              <a:prstGeom prst="rect">
                <a:avLst/>
              </a:prstGeom>
              <a:blipFill>
                <a:blip r:embed="rId10"/>
                <a:stretch>
                  <a:fillRect l="-10526" t="-3333" r="-13158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880DA0F5-00D9-B552-EDEE-C08A91F7AA06}"/>
                  </a:ext>
                </a:extLst>
              </p:cNvPr>
              <p:cNvSpPr txBox="1"/>
              <p:nvPr/>
            </p:nvSpPr>
            <p:spPr>
              <a:xfrm>
                <a:off x="5190215" y="4397376"/>
                <a:ext cx="496739" cy="3737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880DA0F5-00D9-B552-EDEE-C08A91F7AA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0215" y="4397376"/>
                <a:ext cx="496739" cy="373757"/>
              </a:xfrm>
              <a:prstGeom prst="rect">
                <a:avLst/>
              </a:prstGeom>
              <a:blipFill>
                <a:blip r:embed="rId11"/>
                <a:stretch>
                  <a:fillRect l="-10000" t="-6667" r="-10000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E1D9EFAA-BF33-B3C7-D426-39B2A10C7E08}"/>
                  </a:ext>
                </a:extLst>
              </p:cNvPr>
              <p:cNvSpPr txBox="1"/>
              <p:nvPr/>
            </p:nvSpPr>
            <p:spPr>
              <a:xfrm>
                <a:off x="5827356" y="4480902"/>
                <a:ext cx="29713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. . .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E1D9EFAA-BF33-B3C7-D426-39B2A10C7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356" y="4480902"/>
                <a:ext cx="297133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5" name="object 20">
            <a:extLst>
              <a:ext uri="{FF2B5EF4-FFF2-40B4-BE49-F238E27FC236}">
                <a16:creationId xmlns:a16="http://schemas.microsoft.com/office/drawing/2014/main" id="{7B752610-FD9C-469B-BF8A-62033A8F56F2}"/>
              </a:ext>
            </a:extLst>
          </p:cNvPr>
          <p:cNvSpPr/>
          <p:nvPr/>
        </p:nvSpPr>
        <p:spPr>
          <a:xfrm flipH="1">
            <a:off x="1910079" y="4313623"/>
            <a:ext cx="150068" cy="722762"/>
          </a:xfrm>
          <a:custGeom>
            <a:avLst/>
            <a:gdLst/>
            <a:ahLst/>
            <a:cxnLst/>
            <a:rect l="l" t="t" r="r" b="b"/>
            <a:pathLst>
              <a:path w="53340" h="375920">
                <a:moveTo>
                  <a:pt x="53086" y="0"/>
                </a:moveTo>
                <a:lnTo>
                  <a:pt x="0" y="0"/>
                </a:lnTo>
                <a:lnTo>
                  <a:pt x="0" y="10160"/>
                </a:lnTo>
                <a:lnTo>
                  <a:pt x="32385" y="10160"/>
                </a:lnTo>
                <a:lnTo>
                  <a:pt x="32385" y="365760"/>
                </a:lnTo>
                <a:lnTo>
                  <a:pt x="0" y="365760"/>
                </a:lnTo>
                <a:lnTo>
                  <a:pt x="0" y="375920"/>
                </a:lnTo>
                <a:lnTo>
                  <a:pt x="53086" y="375920"/>
                </a:lnTo>
                <a:lnTo>
                  <a:pt x="53086" y="365760"/>
                </a:lnTo>
                <a:lnTo>
                  <a:pt x="53086" y="10160"/>
                </a:lnTo>
                <a:lnTo>
                  <a:pt x="530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7" name="object 4">
                <a:extLst>
                  <a:ext uri="{FF2B5EF4-FFF2-40B4-BE49-F238E27FC236}">
                    <a16:creationId xmlns:a16="http://schemas.microsoft.com/office/drawing/2014/main" id="{1278EBD1-5559-6F70-A382-2987FFD47D50}"/>
                  </a:ext>
                </a:extLst>
              </p:cNvPr>
              <p:cNvSpPr txBox="1"/>
              <p:nvPr/>
            </p:nvSpPr>
            <p:spPr>
              <a:xfrm>
                <a:off x="1228735" y="5318185"/>
                <a:ext cx="9776143" cy="722762"/>
              </a:xfrm>
              <a:prstGeom prst="rect">
                <a:avLst/>
              </a:prstGeom>
            </p:spPr>
            <p:txBody>
              <a:bodyPr vert="horz" wrap="square" lIns="0" tIns="15875" rIns="0" bIns="0" rtlCol="0">
                <a:spAutoFit/>
              </a:bodyPr>
              <a:lstStyle/>
              <a:p>
                <a:pPr marL="12700">
                  <a:lnSpc>
                    <a:spcPct val="150000"/>
                  </a:lnSpc>
                  <a:spcBef>
                    <a:spcPts val="125"/>
                  </a:spcBef>
                </a:pPr>
                <a:r>
                  <a:rPr lang="en-US" sz="1600" dirty="0">
                    <a:latin typeface="Avenir Book" panose="02000503020000020003" pitchFamily="2" charset="0"/>
                    <a:cs typeface="Arial" panose="020B0604020202020204" pitchFamily="34" charset="0"/>
                  </a:rPr>
                  <a:t>For an </a:t>
                </a:r>
                <a:r>
                  <a:rPr lang="en-US" sz="1600" b="1" dirty="0">
                    <a:latin typeface="Avenir Book" panose="02000503020000020003" pitchFamily="2" charset="0"/>
                    <a:cs typeface="Arial" panose="020B0604020202020204" pitchFamily="34" charset="0"/>
                  </a:rPr>
                  <a:t>SEIR compartment model</a:t>
                </a:r>
                <a:r>
                  <a:rPr lang="en-US" sz="1600" dirty="0">
                    <a:latin typeface="Avenir Book" panose="02000503020000020003" pitchFamily="2" charset="0"/>
                    <a:cs typeface="Arial" panose="020B0604020202020204" pitchFamily="34" charset="0"/>
                  </a:rPr>
                  <a:t>, the state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600" dirty="0">
                    <a:latin typeface="Avenir Book" panose="02000503020000020003" pitchFamily="2" charset="0"/>
                    <a:cs typeface="Arial" panose="020B0604020202020204" pitchFamily="34" charset="0"/>
                  </a:rPr>
                  <a:t> consists of the number of susceptible, exposed, infected, and recovered in each county (the superscript corresponds to county ID).</a:t>
                </a:r>
                <a:endParaRPr sz="1600" dirty="0">
                  <a:latin typeface="Avenir Book" panose="02000503020000020003" pitchFamily="2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27" name="object 4">
                <a:extLst>
                  <a:ext uri="{FF2B5EF4-FFF2-40B4-BE49-F238E27FC236}">
                    <a16:creationId xmlns:a16="http://schemas.microsoft.com/office/drawing/2014/main" id="{1278EBD1-5559-6F70-A382-2987FFD47D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8735" y="5318185"/>
                <a:ext cx="9776143" cy="722762"/>
              </a:xfrm>
              <a:prstGeom prst="rect">
                <a:avLst/>
              </a:prstGeom>
              <a:blipFill>
                <a:blip r:embed="rId13"/>
                <a:stretch>
                  <a:fillRect l="-1167" b="-15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8" name="object 4">
                <a:extLst>
                  <a:ext uri="{FF2B5EF4-FFF2-40B4-BE49-F238E27FC236}">
                    <a16:creationId xmlns:a16="http://schemas.microsoft.com/office/drawing/2014/main" id="{6670E30A-B789-AD0B-E4D2-5FBD471D9341}"/>
                  </a:ext>
                </a:extLst>
              </p:cNvPr>
              <p:cNvSpPr txBox="1"/>
              <p:nvPr/>
            </p:nvSpPr>
            <p:spPr>
              <a:xfrm>
                <a:off x="1225231" y="3074454"/>
                <a:ext cx="9776143" cy="722762"/>
              </a:xfrm>
              <a:prstGeom prst="rect">
                <a:avLst/>
              </a:prstGeom>
            </p:spPr>
            <p:txBody>
              <a:bodyPr vert="horz" wrap="square" lIns="0" tIns="15875" rIns="0" bIns="0" rtlCol="0">
                <a:spAutoFit/>
              </a:bodyPr>
              <a:lstStyle/>
              <a:p>
                <a:pPr marL="12700">
                  <a:lnSpc>
                    <a:spcPct val="150000"/>
                  </a:lnSpc>
                  <a:spcBef>
                    <a:spcPts val="125"/>
                  </a:spcBef>
                </a:pPr>
                <a:r>
                  <a:rPr lang="en-US" sz="1600" dirty="0">
                    <a:latin typeface="Avenir Book" panose="02000503020000020003" pitchFamily="2" charset="0"/>
                    <a:cs typeface="Arial" panose="020B0604020202020204" pitchFamily="34" charset="0"/>
                  </a:rPr>
                  <a:t>In the case of disease spread, the state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600" dirty="0">
                    <a:latin typeface="Avenir Book" panose="02000503020000020003" pitchFamily="2" charset="0"/>
                    <a:cs typeface="Arial" panose="020B0604020202020204" pitchFamily="34" charset="0"/>
                  </a:rPr>
                  <a:t> is stratified based on county, tracking a certain number of </a:t>
                </a:r>
                <a:r>
                  <a:rPr lang="en-US" sz="1600" b="1" dirty="0">
                    <a:latin typeface="Avenir Book" panose="02000503020000020003" pitchFamily="2" charset="0"/>
                    <a:cs typeface="Arial" panose="020B0604020202020204" pitchFamily="34" charset="0"/>
                  </a:rPr>
                  <a:t>compartments</a:t>
                </a:r>
                <a:r>
                  <a:rPr lang="en-US" sz="1600" dirty="0">
                    <a:latin typeface="Avenir Book" panose="02000503020000020003" pitchFamily="2" charset="0"/>
                    <a:cs typeface="Arial" panose="020B0604020202020204" pitchFamily="34" charset="0"/>
                  </a:rPr>
                  <a:t> per county. </a:t>
                </a:r>
                <a:endParaRPr sz="1600" dirty="0">
                  <a:latin typeface="Avenir Book" panose="02000503020000020003" pitchFamily="2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28" name="object 4">
                <a:extLst>
                  <a:ext uri="{FF2B5EF4-FFF2-40B4-BE49-F238E27FC236}">
                    <a16:creationId xmlns:a16="http://schemas.microsoft.com/office/drawing/2014/main" id="{6670E30A-B789-AD0B-E4D2-5FBD471D93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5231" y="3074454"/>
                <a:ext cx="9776143" cy="722762"/>
              </a:xfrm>
              <a:prstGeom prst="rect">
                <a:avLst/>
              </a:prstGeom>
              <a:blipFill>
                <a:blip r:embed="rId14"/>
                <a:stretch>
                  <a:fillRect l="-1167" b="-152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0310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40EAE-8807-26EF-1250-B634CB728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831DA0E-8E18-042B-1FCA-559ED7B7982F}"/>
              </a:ext>
            </a:extLst>
          </p:cNvPr>
          <p:cNvSpPr/>
          <p:nvPr/>
        </p:nvSpPr>
        <p:spPr>
          <a:xfrm>
            <a:off x="1225231" y="3576853"/>
            <a:ext cx="2204581" cy="876822"/>
          </a:xfrm>
          <a:prstGeom prst="rect">
            <a:avLst/>
          </a:prstGeom>
          <a:solidFill>
            <a:schemeClr val="bg1">
              <a:lumMod val="95000"/>
              <a:alpha val="68844"/>
            </a:schemeClr>
          </a:solidFill>
          <a:ln w="12700">
            <a:solidFill>
              <a:srgbClr val="646464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4D99E2-6134-7617-1682-A5CDA448D77C}"/>
              </a:ext>
            </a:extLst>
          </p:cNvPr>
          <p:cNvSpPr/>
          <p:nvPr/>
        </p:nvSpPr>
        <p:spPr>
          <a:xfrm>
            <a:off x="7838974" y="3576853"/>
            <a:ext cx="1956379" cy="876822"/>
          </a:xfrm>
          <a:prstGeom prst="rect">
            <a:avLst/>
          </a:prstGeom>
          <a:solidFill>
            <a:schemeClr val="bg1"/>
          </a:solidFill>
          <a:ln w="12700">
            <a:solidFill>
              <a:srgbClr val="646464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1341A2-5EB8-2182-1D38-093650F31708}"/>
              </a:ext>
            </a:extLst>
          </p:cNvPr>
          <p:cNvSpPr/>
          <p:nvPr/>
        </p:nvSpPr>
        <p:spPr>
          <a:xfrm>
            <a:off x="3429812" y="3576853"/>
            <a:ext cx="2204581" cy="876822"/>
          </a:xfrm>
          <a:prstGeom prst="rect">
            <a:avLst/>
          </a:prstGeom>
          <a:solidFill>
            <a:schemeClr val="bg1"/>
          </a:solidFill>
          <a:ln w="12700">
            <a:solidFill>
              <a:srgbClr val="646464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6B1626-59A2-F037-E794-73AA0111794C}"/>
              </a:ext>
            </a:extLst>
          </p:cNvPr>
          <p:cNvSpPr/>
          <p:nvPr/>
        </p:nvSpPr>
        <p:spPr>
          <a:xfrm>
            <a:off x="5634393" y="3576853"/>
            <a:ext cx="2204581" cy="876822"/>
          </a:xfrm>
          <a:prstGeom prst="rect">
            <a:avLst/>
          </a:prstGeom>
          <a:solidFill>
            <a:schemeClr val="bg1">
              <a:lumMod val="95000"/>
              <a:alpha val="77623"/>
            </a:schemeClr>
          </a:solidFill>
          <a:ln w="12700">
            <a:solidFill>
              <a:srgbClr val="646464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3BA1E8E-662C-6197-510A-167A314A6784}"/>
              </a:ext>
            </a:extLst>
          </p:cNvPr>
          <p:cNvCxnSpPr/>
          <p:nvPr/>
        </p:nvCxnSpPr>
        <p:spPr>
          <a:xfrm>
            <a:off x="914400" y="1071563"/>
            <a:ext cx="10086975" cy="0"/>
          </a:xfrm>
          <a:prstGeom prst="line">
            <a:avLst/>
          </a:prstGeom>
          <a:ln w="22225">
            <a:solidFill>
              <a:srgbClr val="7F9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E008C61-7745-A08B-FBF0-75834AF1A353}"/>
              </a:ext>
            </a:extLst>
          </p:cNvPr>
          <p:cNvSpPr txBox="1"/>
          <p:nvPr/>
        </p:nvSpPr>
        <p:spPr>
          <a:xfrm>
            <a:off x="914399" y="494912"/>
            <a:ext cx="93297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venir Light" panose="020B0402020203020204" pitchFamily="34" charset="77"/>
              </a:rPr>
              <a:t>Disease Spread as a Dynamical System</a:t>
            </a:r>
          </a:p>
        </p:txBody>
      </p:sp>
      <p:sp>
        <p:nvSpPr>
          <p:cNvPr id="1032" name="Slide Number Placeholder 1031">
            <a:extLst>
              <a:ext uri="{FF2B5EF4-FFF2-40B4-BE49-F238E27FC236}">
                <a16:creationId xmlns:a16="http://schemas.microsoft.com/office/drawing/2014/main" id="{69CFD1A5-BA93-874D-D3A3-C4DE4ABE4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78B8C-3A5C-324B-A3F5-C0AF7DCE0B23}" type="slidenum">
              <a:rPr lang="en-US" smtClean="0"/>
              <a:t>11</a:t>
            </a:fld>
            <a:endParaRPr lang="en-US"/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C3864200-FEB3-C5DC-4163-A8C1D62382D8}"/>
              </a:ext>
            </a:extLst>
          </p:cNvPr>
          <p:cNvSpPr txBox="1"/>
          <p:nvPr/>
        </p:nvSpPr>
        <p:spPr>
          <a:xfrm>
            <a:off x="1225231" y="1320748"/>
            <a:ext cx="9776143" cy="353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25"/>
              </a:spcBef>
            </a:pPr>
            <a:r>
              <a:rPr lang="en-US" sz="1600" dirty="0">
                <a:latin typeface="Avenir Book" panose="02000503020000020003" pitchFamily="2" charset="0"/>
                <a:cs typeface="Arial" panose="020B0604020202020204" pitchFamily="34" charset="0"/>
              </a:rPr>
              <a:t>In a modeling context, disease spread is formulated as a dynamical system in time:</a:t>
            </a:r>
            <a:endParaRPr sz="16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5B9CA8D-4938-0237-9D95-65F5CCBFE77F}"/>
                  </a:ext>
                </a:extLst>
              </p:cNvPr>
              <p:cNvSpPr txBox="1"/>
              <p:nvPr/>
            </p:nvSpPr>
            <p:spPr>
              <a:xfrm>
                <a:off x="1225231" y="1923362"/>
                <a:ext cx="153330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5B9CA8D-4938-0237-9D95-65F5CCBFE7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5231" y="1923362"/>
                <a:ext cx="1533304" cy="307777"/>
              </a:xfrm>
              <a:prstGeom prst="rect">
                <a:avLst/>
              </a:prstGeom>
              <a:blipFill>
                <a:blip r:embed="rId3"/>
                <a:stretch>
                  <a:fillRect l="-3279" t="-36000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4">
                <a:extLst>
                  <a:ext uri="{FF2B5EF4-FFF2-40B4-BE49-F238E27FC236}">
                    <a16:creationId xmlns:a16="http://schemas.microsoft.com/office/drawing/2014/main" id="{BBC0C9F3-CB85-8A6E-038F-F4AE0899F9BE}"/>
                  </a:ext>
                </a:extLst>
              </p:cNvPr>
              <p:cNvSpPr txBox="1"/>
              <p:nvPr/>
            </p:nvSpPr>
            <p:spPr>
              <a:xfrm>
                <a:off x="1225231" y="2504024"/>
                <a:ext cx="9776143" cy="720582"/>
              </a:xfrm>
              <a:prstGeom prst="rect">
                <a:avLst/>
              </a:prstGeom>
            </p:spPr>
            <p:txBody>
              <a:bodyPr vert="horz" wrap="square" lIns="0" tIns="15875" rIns="0" bIns="0" rtlCol="0">
                <a:spAutoFit/>
              </a:bodyPr>
              <a:lstStyle/>
              <a:p>
                <a:pPr marL="12700">
                  <a:lnSpc>
                    <a:spcPct val="150000"/>
                  </a:lnSpc>
                  <a:spcBef>
                    <a:spcPts val="125"/>
                  </a:spcBef>
                </a:pPr>
                <a:r>
                  <a:rPr lang="en-US" sz="1600" dirty="0">
                    <a:latin typeface="Avenir Book" panose="02000503020000020003" pitchFamily="2" charset="0"/>
                    <a:cs typeface="Arial" panose="020B0604020202020204" pitchFamily="34" charset="0"/>
                  </a:rPr>
                  <a:t>The temporal evolution of the state vector is simulated by a set of ordinary differential equations. These equations are solved per county, with coupling introduced by hyper-parameters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1600" dirty="0">
                    <a:latin typeface="Avenir Book" panose="02000503020000020003" pitchFamily="2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1600" dirty="0">
                    <a:latin typeface="Avenir Book" panose="02000503020000020003" pitchFamily="2" charset="0"/>
                    <a:cs typeface="Arial" panose="020B060402020202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1600" dirty="0">
                    <a:latin typeface="Avenir Book" panose="02000503020000020003" pitchFamily="2" charset="0"/>
                    <a:cs typeface="Arial" panose="020B0604020202020204" pitchFamily="34" charset="0"/>
                  </a:rPr>
                  <a:t>. </a:t>
                </a:r>
                <a:endParaRPr sz="1600" dirty="0">
                  <a:latin typeface="Avenir Book" panose="02000503020000020003" pitchFamily="2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object 4">
                <a:extLst>
                  <a:ext uri="{FF2B5EF4-FFF2-40B4-BE49-F238E27FC236}">
                    <a16:creationId xmlns:a16="http://schemas.microsoft.com/office/drawing/2014/main" id="{BBC0C9F3-CB85-8A6E-038F-F4AE0899F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5231" y="2504024"/>
                <a:ext cx="9776143" cy="720582"/>
              </a:xfrm>
              <a:prstGeom prst="rect">
                <a:avLst/>
              </a:prstGeom>
              <a:blipFill>
                <a:blip r:embed="rId4"/>
                <a:stretch>
                  <a:fillRect l="-1167" b="-17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7AF8D7-E982-2CA6-A50E-66AF26C3F599}"/>
                  </a:ext>
                </a:extLst>
              </p:cNvPr>
              <p:cNvSpPr txBox="1"/>
              <p:nvPr/>
            </p:nvSpPr>
            <p:spPr>
              <a:xfrm>
                <a:off x="1659180" y="3722971"/>
                <a:ext cx="1358641" cy="5844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𝑑𝑆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 sz="2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7AF8D7-E982-2CA6-A50E-66AF26C3F5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9180" y="3722971"/>
                <a:ext cx="1358641" cy="584455"/>
              </a:xfrm>
              <a:prstGeom prst="rect">
                <a:avLst/>
              </a:prstGeom>
              <a:blipFill>
                <a:blip r:embed="rId5"/>
                <a:stretch>
                  <a:fillRect l="-4630" t="-4255" r="-3704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EBDC4B-6E74-F52E-4BEE-025E960244DB}"/>
                  </a:ext>
                </a:extLst>
              </p:cNvPr>
              <p:cNvSpPr txBox="1"/>
              <p:nvPr/>
            </p:nvSpPr>
            <p:spPr>
              <a:xfrm>
                <a:off x="3722762" y="3722972"/>
                <a:ext cx="1779911" cy="5844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𝑑𝐸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US" sz="2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EBDC4B-6E74-F52E-4BEE-025E960244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2762" y="3722972"/>
                <a:ext cx="1779911" cy="584455"/>
              </a:xfrm>
              <a:prstGeom prst="rect">
                <a:avLst/>
              </a:prstGeom>
              <a:blipFill>
                <a:blip r:embed="rId6"/>
                <a:stretch>
                  <a:fillRect l="-3546" t="-4255" r="-2128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0C8CC67-AE38-BF5A-F3E5-D91D24B0AE38}"/>
                  </a:ext>
                </a:extLst>
              </p:cNvPr>
              <p:cNvSpPr txBox="1"/>
              <p:nvPr/>
            </p:nvSpPr>
            <p:spPr>
              <a:xfrm>
                <a:off x="6006663" y="3723100"/>
                <a:ext cx="1512017" cy="5843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𝑑𝐼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sz="2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0C8CC67-AE38-BF5A-F3E5-D91D24B0A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6663" y="3723100"/>
                <a:ext cx="1512017" cy="584327"/>
              </a:xfrm>
              <a:prstGeom prst="rect">
                <a:avLst/>
              </a:prstGeom>
              <a:blipFill>
                <a:blip r:embed="rId7"/>
                <a:stretch>
                  <a:fillRect l="-3333" t="-2128" r="-5000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16F395E-06EA-7C70-E710-AFF05AA80903}"/>
                  </a:ext>
                </a:extLst>
              </p:cNvPr>
              <p:cNvSpPr txBox="1"/>
              <p:nvPr/>
            </p:nvSpPr>
            <p:spPr>
              <a:xfrm>
                <a:off x="8342963" y="3723100"/>
                <a:ext cx="948400" cy="5843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𝑑𝑅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sz="2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16F395E-06EA-7C70-E710-AFF05AA809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2963" y="3723100"/>
                <a:ext cx="948400" cy="584327"/>
              </a:xfrm>
              <a:prstGeom prst="rect">
                <a:avLst/>
              </a:prstGeom>
              <a:blipFill>
                <a:blip r:embed="rId8"/>
                <a:stretch>
                  <a:fillRect l="-6667" t="-2128" r="-8000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bject 4">
            <a:extLst>
              <a:ext uri="{FF2B5EF4-FFF2-40B4-BE49-F238E27FC236}">
                <a16:creationId xmlns:a16="http://schemas.microsoft.com/office/drawing/2014/main" id="{01A57736-4876-69B3-ED67-001EAA393B1B}"/>
              </a:ext>
            </a:extLst>
          </p:cNvPr>
          <p:cNvSpPr txBox="1"/>
          <p:nvPr/>
        </p:nvSpPr>
        <p:spPr>
          <a:xfrm>
            <a:off x="1225231" y="4807077"/>
            <a:ext cx="9776143" cy="109209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25"/>
              </a:spcBef>
            </a:pPr>
            <a:r>
              <a:rPr lang="en-US" sz="1600" dirty="0">
                <a:latin typeface="Avenir Book" panose="02000503020000020003" pitchFamily="2" charset="0"/>
                <a:cs typeface="Arial" panose="020B0604020202020204" pitchFamily="34" charset="0"/>
              </a:rPr>
              <a:t>In advanced simulations of disease spread, these equations are augmented with a parallel stochastic process that injects uncertainty into the state update. For purposes of this tutorial, we will focus on the </a:t>
            </a:r>
            <a:r>
              <a:rPr lang="en-US" sz="1600" b="1" dirty="0">
                <a:latin typeface="Avenir Book" panose="02000503020000020003" pitchFamily="2" charset="0"/>
                <a:cs typeface="Arial" panose="020B0604020202020204" pitchFamily="34" charset="0"/>
              </a:rPr>
              <a:t>deterministic </a:t>
            </a:r>
            <a:r>
              <a:rPr lang="en-US" sz="1600" dirty="0">
                <a:latin typeface="Avenir Book" panose="02000503020000020003" pitchFamily="2" charset="0"/>
                <a:cs typeface="Arial" panose="020B0604020202020204" pitchFamily="34" charset="0"/>
              </a:rPr>
              <a:t>version of the SEIR equations shown above.</a:t>
            </a:r>
            <a:endParaRPr sz="16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48312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D64D4-D554-5AAC-2A86-506E92DED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2FD2147-5ABB-9092-870D-7B739437B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484" y="1320748"/>
            <a:ext cx="5486400" cy="4572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3CEAAF-D166-9496-ADFC-4801C438CFC3}"/>
              </a:ext>
            </a:extLst>
          </p:cNvPr>
          <p:cNvCxnSpPr/>
          <p:nvPr/>
        </p:nvCxnSpPr>
        <p:spPr>
          <a:xfrm>
            <a:off x="914400" y="1071563"/>
            <a:ext cx="10086975" cy="0"/>
          </a:xfrm>
          <a:prstGeom prst="line">
            <a:avLst/>
          </a:prstGeom>
          <a:ln w="22225">
            <a:solidFill>
              <a:srgbClr val="7F9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7ED4251-E370-1610-74DD-3C02EBCBCD39}"/>
              </a:ext>
            </a:extLst>
          </p:cNvPr>
          <p:cNvSpPr txBox="1"/>
          <p:nvPr/>
        </p:nvSpPr>
        <p:spPr>
          <a:xfrm>
            <a:off x="914399" y="494912"/>
            <a:ext cx="93297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venir Light" panose="020B0402020203020204" pitchFamily="34" charset="77"/>
              </a:rPr>
              <a:t>Disease Spread as a Dynamical System</a:t>
            </a:r>
          </a:p>
        </p:txBody>
      </p:sp>
      <p:sp>
        <p:nvSpPr>
          <p:cNvPr id="1032" name="Slide Number Placeholder 1031">
            <a:extLst>
              <a:ext uri="{FF2B5EF4-FFF2-40B4-BE49-F238E27FC236}">
                <a16:creationId xmlns:a16="http://schemas.microsoft.com/office/drawing/2014/main" id="{5A67F9FE-72EE-F43B-9C4F-3CF0CED2D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78B8C-3A5C-324B-A3F5-C0AF7DCE0B23}" type="slidenum">
              <a:rPr lang="en-US" smtClean="0"/>
              <a:t>12</a:t>
            </a:fld>
            <a:endParaRPr lang="en-US"/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75E63603-BBC0-F589-FAE2-5AE63EFADFB1}"/>
              </a:ext>
            </a:extLst>
          </p:cNvPr>
          <p:cNvSpPr txBox="1"/>
          <p:nvPr/>
        </p:nvSpPr>
        <p:spPr>
          <a:xfrm>
            <a:off x="1225231" y="1320748"/>
            <a:ext cx="9776143" cy="353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25"/>
              </a:spcBef>
            </a:pPr>
            <a:r>
              <a:rPr lang="en-US" sz="1600" dirty="0">
                <a:latin typeface="Avenir Book" panose="02000503020000020003" pitchFamily="2" charset="0"/>
                <a:cs typeface="Arial" panose="020B0604020202020204" pitchFamily="34" charset="0"/>
              </a:rPr>
              <a:t>SEIR compartment simulations produce data that looks like this:</a:t>
            </a:r>
            <a:endParaRPr sz="16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C6058C-8D16-099D-62FF-C90F13E74FDE}"/>
              </a:ext>
            </a:extLst>
          </p:cNvPr>
          <p:cNvSpPr/>
          <p:nvPr/>
        </p:nvSpPr>
        <p:spPr>
          <a:xfrm>
            <a:off x="972012" y="3086491"/>
            <a:ext cx="253219" cy="104051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8FDFD9-782C-7BA4-E775-73F82793C05C}"/>
              </a:ext>
            </a:extLst>
          </p:cNvPr>
          <p:cNvSpPr txBox="1"/>
          <p:nvPr/>
        </p:nvSpPr>
        <p:spPr>
          <a:xfrm>
            <a:off x="391942" y="5666253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compartment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DD6465E-FB63-D5AD-2C59-41A9C7849CD4}"/>
              </a:ext>
            </a:extLst>
          </p:cNvPr>
          <p:cNvCxnSpPr>
            <a:cxnSpLocks/>
          </p:cNvCxnSpPr>
          <p:nvPr/>
        </p:nvCxnSpPr>
        <p:spPr>
          <a:xfrm flipV="1">
            <a:off x="1098621" y="4127005"/>
            <a:ext cx="0" cy="1539248"/>
          </a:xfrm>
          <a:prstGeom prst="line">
            <a:avLst/>
          </a:prstGeom>
          <a:ln w="12700">
            <a:solidFill>
              <a:srgbClr val="646464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1D544D83-AE8A-2968-0CC3-785842366451}"/>
              </a:ext>
            </a:extLst>
          </p:cNvPr>
          <p:cNvSpPr/>
          <p:nvPr/>
        </p:nvSpPr>
        <p:spPr>
          <a:xfrm rot="16200000">
            <a:off x="3718766" y="5064563"/>
            <a:ext cx="283183" cy="1323081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0393572-635D-3A7A-F697-70E51E4D85F2}"/>
              </a:ext>
            </a:extLst>
          </p:cNvPr>
          <p:cNvSpPr txBox="1"/>
          <p:nvPr/>
        </p:nvSpPr>
        <p:spPr>
          <a:xfrm>
            <a:off x="4787793" y="6019577"/>
            <a:ext cx="7914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time</a:t>
            </a:r>
            <a:endParaRPr lang="en-US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DF76974-D568-AABB-BFE2-77C0891FF488}"/>
              </a:ext>
            </a:extLst>
          </p:cNvPr>
          <p:cNvCxnSpPr>
            <a:cxnSpLocks/>
          </p:cNvCxnSpPr>
          <p:nvPr/>
        </p:nvCxnSpPr>
        <p:spPr>
          <a:xfrm flipV="1">
            <a:off x="3860357" y="5875971"/>
            <a:ext cx="0" cy="345983"/>
          </a:xfrm>
          <a:prstGeom prst="line">
            <a:avLst/>
          </a:prstGeom>
          <a:ln w="12700">
            <a:solidFill>
              <a:srgbClr val="646464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8EDAF65-26C4-C31D-26A3-11571C657F02}"/>
              </a:ext>
            </a:extLst>
          </p:cNvPr>
          <p:cNvCxnSpPr>
            <a:cxnSpLocks/>
          </p:cNvCxnSpPr>
          <p:nvPr/>
        </p:nvCxnSpPr>
        <p:spPr>
          <a:xfrm flipH="1">
            <a:off x="2645082" y="2220459"/>
            <a:ext cx="3876802" cy="0"/>
          </a:xfrm>
          <a:prstGeom prst="line">
            <a:avLst/>
          </a:prstGeom>
          <a:ln w="12700">
            <a:solidFill>
              <a:srgbClr val="646464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5D24980-15DB-386A-569B-9C7B22DD7AE8}"/>
              </a:ext>
            </a:extLst>
          </p:cNvPr>
          <p:cNvCxnSpPr>
            <a:cxnSpLocks/>
          </p:cNvCxnSpPr>
          <p:nvPr/>
        </p:nvCxnSpPr>
        <p:spPr>
          <a:xfrm flipH="1">
            <a:off x="2712932" y="2949056"/>
            <a:ext cx="819408" cy="0"/>
          </a:xfrm>
          <a:prstGeom prst="line">
            <a:avLst/>
          </a:prstGeom>
          <a:ln w="12700">
            <a:solidFill>
              <a:srgbClr val="646464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EED1B26-6918-63D0-26C0-73A3C25E28EE}"/>
              </a:ext>
            </a:extLst>
          </p:cNvPr>
          <p:cNvCxnSpPr/>
          <p:nvPr/>
        </p:nvCxnSpPr>
        <p:spPr>
          <a:xfrm flipV="1">
            <a:off x="3532340" y="2220459"/>
            <a:ext cx="0" cy="728597"/>
          </a:xfrm>
          <a:prstGeom prst="line">
            <a:avLst/>
          </a:prstGeom>
          <a:ln w="127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bject 4">
                <a:extLst>
                  <a:ext uri="{FF2B5EF4-FFF2-40B4-BE49-F238E27FC236}">
                    <a16:creationId xmlns:a16="http://schemas.microsoft.com/office/drawing/2014/main" id="{81962FE6-65C3-7D84-7592-B5B146D37265}"/>
                  </a:ext>
                </a:extLst>
              </p:cNvPr>
              <p:cNvSpPr txBox="1"/>
              <p:nvPr/>
            </p:nvSpPr>
            <p:spPr>
              <a:xfrm>
                <a:off x="6521885" y="2001852"/>
                <a:ext cx="4479490" cy="3728713"/>
              </a:xfrm>
              <a:prstGeom prst="rect">
                <a:avLst/>
              </a:prstGeom>
            </p:spPr>
            <p:txBody>
              <a:bodyPr vert="horz" wrap="square" lIns="0" tIns="15875" rIns="0" bIns="0" rtlCol="0">
                <a:spAutoFit/>
              </a:bodyPr>
              <a:lstStyle/>
              <a:p>
                <a:pPr marL="298450" indent="-285750">
                  <a:lnSpc>
                    <a:spcPct val="150000"/>
                  </a:lnSpc>
                  <a:spcBef>
                    <a:spcPts val="125"/>
                  </a:spcBef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Avenir Book" panose="02000503020000020003" pitchFamily="2" charset="0"/>
                    <a:cs typeface="Arial" panose="020B0604020202020204" pitchFamily="34" charset="0"/>
                  </a:rPr>
                  <a:t>Each line corresponds to a different initial condition (i.e., initial state vector and simulation constants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1600" dirty="0">
                    <a:latin typeface="Avenir Book" panose="02000503020000020003" pitchFamily="2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1600" dirty="0">
                    <a:latin typeface="Avenir Book" panose="02000503020000020003" pitchFamily="2" charset="0"/>
                    <a:cs typeface="Arial" panose="020B060402020202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).</m:t>
                    </m:r>
                  </m:oMath>
                </a14:m>
                <a:endParaRPr lang="en-US" sz="1600" b="0" dirty="0">
                  <a:latin typeface="Avenir Book" panose="02000503020000020003" pitchFamily="2" charset="0"/>
                  <a:ea typeface="Cambria Math" panose="02040503050406030204" pitchFamily="18" charset="0"/>
                </a:endParaRPr>
              </a:p>
              <a:p>
                <a:pPr marL="12700">
                  <a:lnSpc>
                    <a:spcPct val="150000"/>
                  </a:lnSpc>
                  <a:spcBef>
                    <a:spcPts val="125"/>
                  </a:spcBef>
                </a:pPr>
                <a:endParaRPr lang="en-US" sz="800" b="0" dirty="0">
                  <a:latin typeface="Avenir Book" panose="02000503020000020003" pitchFamily="2" charset="0"/>
                  <a:ea typeface="Cambria Math" panose="02040503050406030204" pitchFamily="18" charset="0"/>
                </a:endParaRPr>
              </a:p>
              <a:p>
                <a:pPr marL="298450" indent="-285750">
                  <a:lnSpc>
                    <a:spcPct val="150000"/>
                  </a:lnSpc>
                  <a:spcBef>
                    <a:spcPts val="125"/>
                  </a:spcBef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Avenir Book" panose="02000503020000020003" pitchFamily="2" charset="0"/>
                    <a:ea typeface="Cambria Math" panose="02040503050406030204" pitchFamily="18" charset="0"/>
                  </a:rPr>
                  <a:t>Following each line, one can trace the evolution of the epidemic: the infection begins, rises to a peak, and smoothly decays.</a:t>
                </a:r>
              </a:p>
              <a:p>
                <a:pPr marL="12700">
                  <a:lnSpc>
                    <a:spcPct val="150000"/>
                  </a:lnSpc>
                  <a:spcBef>
                    <a:spcPts val="125"/>
                  </a:spcBef>
                </a:pPr>
                <a:endParaRPr lang="en-US" sz="800" dirty="0">
                  <a:latin typeface="Avenir Book" panose="02000503020000020003" pitchFamily="2" charset="0"/>
                  <a:ea typeface="Cambria Math" panose="02040503050406030204" pitchFamily="18" charset="0"/>
                </a:endParaRPr>
              </a:p>
              <a:p>
                <a:pPr marL="298450" indent="-285750">
                  <a:lnSpc>
                    <a:spcPct val="150000"/>
                  </a:lnSpc>
                  <a:spcBef>
                    <a:spcPts val="125"/>
                  </a:spcBef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Avenir Book" panose="02000503020000020003" pitchFamily="2" charset="0"/>
                    <a:cs typeface="Arial" panose="020B0604020202020204" pitchFamily="34" charset="0"/>
                  </a:rPr>
                  <a:t>The complete output dataset includes one of these plots for each </a:t>
                </a:r>
                <a:r>
                  <a:rPr lang="en-US" sz="1600" b="1" dirty="0">
                    <a:latin typeface="Avenir Book" panose="02000503020000020003" pitchFamily="2" charset="0"/>
                    <a:cs typeface="Arial" panose="020B0604020202020204" pitchFamily="34" charset="0"/>
                  </a:rPr>
                  <a:t>compartment</a:t>
                </a:r>
                <a:r>
                  <a:rPr lang="en-US" sz="1600" dirty="0">
                    <a:latin typeface="Avenir Book" panose="02000503020000020003" pitchFamily="2" charset="0"/>
                    <a:cs typeface="Arial" panose="020B0604020202020204" pitchFamily="34" charset="0"/>
                  </a:rPr>
                  <a:t> and </a:t>
                </a:r>
                <a:r>
                  <a:rPr lang="en-US" sz="1600" b="1" dirty="0">
                    <a:latin typeface="Avenir Book" panose="02000503020000020003" pitchFamily="2" charset="0"/>
                    <a:cs typeface="Arial" panose="020B0604020202020204" pitchFamily="34" charset="0"/>
                  </a:rPr>
                  <a:t>county</a:t>
                </a:r>
                <a:r>
                  <a:rPr lang="en-US" sz="1600" dirty="0">
                    <a:latin typeface="Avenir Book" panose="02000503020000020003" pitchFamily="2" charset="0"/>
                    <a:cs typeface="Arial" panose="020B0604020202020204" pitchFamily="34" charset="0"/>
                  </a:rPr>
                  <a:t> included in the simulation.</a:t>
                </a:r>
                <a:endParaRPr sz="1600" dirty="0">
                  <a:latin typeface="Avenir Book" panose="02000503020000020003" pitchFamily="2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8" name="object 4">
                <a:extLst>
                  <a:ext uri="{FF2B5EF4-FFF2-40B4-BE49-F238E27FC236}">
                    <a16:creationId xmlns:a16="http://schemas.microsoft.com/office/drawing/2014/main" id="{81962FE6-65C3-7D84-7592-B5B146D37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885" y="2001852"/>
                <a:ext cx="4479490" cy="3728713"/>
              </a:xfrm>
              <a:prstGeom prst="rect">
                <a:avLst/>
              </a:prstGeom>
              <a:blipFill>
                <a:blip r:embed="rId4"/>
                <a:stretch>
                  <a:fillRect l="-2260" r="-1977" b="-2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B1BB51B-39D1-14F0-B6FA-C5403F42772D}"/>
              </a:ext>
            </a:extLst>
          </p:cNvPr>
          <p:cNvCxnSpPr>
            <a:cxnSpLocks/>
          </p:cNvCxnSpPr>
          <p:nvPr/>
        </p:nvCxnSpPr>
        <p:spPr>
          <a:xfrm flipH="1">
            <a:off x="3860357" y="6221954"/>
            <a:ext cx="935027" cy="0"/>
          </a:xfrm>
          <a:prstGeom prst="line">
            <a:avLst/>
          </a:prstGeom>
          <a:ln w="127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6978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  <p:bldP spid="25" grpId="0" animBg="1"/>
      <p:bldP spid="2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F544-11C9-D99F-F90E-6D77D412E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85551B-ED5E-E080-4ABA-BF1B0395FC24}"/>
              </a:ext>
            </a:extLst>
          </p:cNvPr>
          <p:cNvCxnSpPr/>
          <p:nvPr/>
        </p:nvCxnSpPr>
        <p:spPr>
          <a:xfrm>
            <a:off x="914400" y="1071563"/>
            <a:ext cx="10086975" cy="0"/>
          </a:xfrm>
          <a:prstGeom prst="line">
            <a:avLst/>
          </a:prstGeom>
          <a:ln w="22225">
            <a:solidFill>
              <a:srgbClr val="7F9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0EBB92D-594A-9D8F-705B-F8A67034777D}"/>
              </a:ext>
            </a:extLst>
          </p:cNvPr>
          <p:cNvSpPr txBox="1"/>
          <p:nvPr/>
        </p:nvSpPr>
        <p:spPr>
          <a:xfrm>
            <a:off x="914399" y="494912"/>
            <a:ext cx="93297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venir Light" panose="020B0402020203020204" pitchFamily="34" charset="77"/>
              </a:rPr>
              <a:t>Tutorial: Surrogate Modeling in the Epidemic Regime</a:t>
            </a:r>
          </a:p>
        </p:txBody>
      </p:sp>
      <p:sp>
        <p:nvSpPr>
          <p:cNvPr id="1032" name="Slide Number Placeholder 1031">
            <a:extLst>
              <a:ext uri="{FF2B5EF4-FFF2-40B4-BE49-F238E27FC236}">
                <a16:creationId xmlns:a16="http://schemas.microsoft.com/office/drawing/2014/main" id="{9F7D67FB-FF03-1221-E4B5-677B212B9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78B8C-3A5C-324B-A3F5-C0AF7DCE0B23}" type="slidenum">
              <a:rPr lang="en-US" smtClean="0"/>
              <a:t>13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4">
                <a:extLst>
                  <a:ext uri="{FF2B5EF4-FFF2-40B4-BE49-F238E27FC236}">
                    <a16:creationId xmlns:a16="http://schemas.microsoft.com/office/drawing/2014/main" id="{A16CB45E-D6DD-D518-15CE-33CAE6D8027D}"/>
                  </a:ext>
                </a:extLst>
              </p:cNvPr>
              <p:cNvSpPr txBox="1"/>
              <p:nvPr/>
            </p:nvSpPr>
            <p:spPr>
              <a:xfrm>
                <a:off x="1225231" y="1320748"/>
                <a:ext cx="9776143" cy="1092094"/>
              </a:xfrm>
              <a:prstGeom prst="rect">
                <a:avLst/>
              </a:prstGeom>
            </p:spPr>
            <p:txBody>
              <a:bodyPr vert="horz" wrap="square" lIns="0" tIns="15875" rIns="0" bIns="0" rtlCol="0">
                <a:spAutoFit/>
              </a:bodyPr>
              <a:lstStyle/>
              <a:p>
                <a:pPr marL="12700">
                  <a:lnSpc>
                    <a:spcPct val="150000"/>
                  </a:lnSpc>
                  <a:spcBef>
                    <a:spcPts val="125"/>
                  </a:spcBef>
                </a:pPr>
                <a:r>
                  <a:rPr lang="en-US" sz="1600" dirty="0">
                    <a:latin typeface="Avenir Book" panose="02000503020000020003" pitchFamily="2" charset="0"/>
                    <a:cs typeface="Arial" panose="020B0604020202020204" pitchFamily="34" charset="0"/>
                  </a:rPr>
                  <a:t>As a small, representative dataset, this tutorial considers 40 simulations of disease spread in Washington DC, which consists of only a single county/node. Each simulation corresponds to a different initial conditions, sweeping through the number of initial infected and the rate of infection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1600" dirty="0">
                    <a:latin typeface="Avenir Book" panose="02000503020000020003" pitchFamily="2" charset="0"/>
                    <a:cs typeface="Arial" panose="020B0604020202020204" pitchFamily="34" charset="0"/>
                  </a:rPr>
                  <a:t>.  </a:t>
                </a:r>
                <a:endParaRPr sz="1600" dirty="0">
                  <a:latin typeface="Avenir Book" panose="02000503020000020003" pitchFamily="2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object 4">
                <a:extLst>
                  <a:ext uri="{FF2B5EF4-FFF2-40B4-BE49-F238E27FC236}">
                    <a16:creationId xmlns:a16="http://schemas.microsoft.com/office/drawing/2014/main" id="{A16CB45E-D6DD-D518-15CE-33CAE6D802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5231" y="1320748"/>
                <a:ext cx="9776143" cy="1092094"/>
              </a:xfrm>
              <a:prstGeom prst="rect">
                <a:avLst/>
              </a:prstGeom>
              <a:blipFill>
                <a:blip r:embed="rId3"/>
                <a:stretch>
                  <a:fillRect l="-1167"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A6835EF0-FF6C-ABAF-C546-28AC3320A1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902" r="7894"/>
          <a:stretch>
            <a:fillRect/>
          </a:stretch>
        </p:blipFill>
        <p:spPr>
          <a:xfrm>
            <a:off x="651353" y="2462946"/>
            <a:ext cx="10471759" cy="2487225"/>
          </a:xfrm>
          <a:prstGeom prst="rect">
            <a:avLst/>
          </a:prstGeom>
        </p:spPr>
      </p:pic>
      <p:sp>
        <p:nvSpPr>
          <p:cNvPr id="9" name="object 4">
            <a:extLst>
              <a:ext uri="{FF2B5EF4-FFF2-40B4-BE49-F238E27FC236}">
                <a16:creationId xmlns:a16="http://schemas.microsoft.com/office/drawing/2014/main" id="{627F77BA-AE72-493C-B803-B908E267DFA6}"/>
              </a:ext>
            </a:extLst>
          </p:cNvPr>
          <p:cNvSpPr txBox="1"/>
          <p:nvPr/>
        </p:nvSpPr>
        <p:spPr>
          <a:xfrm>
            <a:off x="1225231" y="5032057"/>
            <a:ext cx="9776143" cy="353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25"/>
              </a:spcBef>
            </a:pPr>
            <a:r>
              <a:rPr lang="en-US" sz="1600" dirty="0">
                <a:latin typeface="Avenir Book" panose="02000503020000020003" pitchFamily="2" charset="0"/>
                <a:cs typeface="Arial" panose="020B0604020202020204" pitchFamily="34" charset="0"/>
              </a:rPr>
              <a:t>When viewed as a tensor, the complete dataset takes the following shape:</a:t>
            </a:r>
            <a:endParaRPr sz="16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775DD9C3-5535-C2EA-EEF9-65F36B22F7B5}"/>
              </a:ext>
            </a:extLst>
          </p:cNvPr>
          <p:cNvSpPr txBox="1"/>
          <p:nvPr/>
        </p:nvSpPr>
        <p:spPr>
          <a:xfrm>
            <a:off x="4166009" y="5615630"/>
            <a:ext cx="3894586" cy="2930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data_out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(40,  500,   4)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363386-25E0-7FDB-9B77-D36B7A21D006}"/>
              </a:ext>
            </a:extLst>
          </p:cNvPr>
          <p:cNvCxnSpPr>
            <a:cxnSpLocks/>
          </p:cNvCxnSpPr>
          <p:nvPr/>
        </p:nvCxnSpPr>
        <p:spPr>
          <a:xfrm flipV="1">
            <a:off x="5808408" y="5908659"/>
            <a:ext cx="0" cy="316777"/>
          </a:xfrm>
          <a:prstGeom prst="line">
            <a:avLst/>
          </a:prstGeom>
          <a:ln w="12700">
            <a:solidFill>
              <a:srgbClr val="646464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734DDC5-8C02-2ED6-E36A-3989EF258D5F}"/>
              </a:ext>
            </a:extLst>
          </p:cNvPr>
          <p:cNvCxnSpPr>
            <a:cxnSpLocks/>
          </p:cNvCxnSpPr>
          <p:nvPr/>
        </p:nvCxnSpPr>
        <p:spPr>
          <a:xfrm flipV="1">
            <a:off x="6574583" y="5908659"/>
            <a:ext cx="0" cy="316777"/>
          </a:xfrm>
          <a:prstGeom prst="line">
            <a:avLst/>
          </a:prstGeom>
          <a:ln w="12700">
            <a:solidFill>
              <a:srgbClr val="646464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1B725ED-CA36-BDB0-C378-68066C6AAFC0}"/>
              </a:ext>
            </a:extLst>
          </p:cNvPr>
          <p:cNvCxnSpPr>
            <a:cxnSpLocks/>
          </p:cNvCxnSpPr>
          <p:nvPr/>
        </p:nvCxnSpPr>
        <p:spPr>
          <a:xfrm flipV="1">
            <a:off x="7415914" y="5908659"/>
            <a:ext cx="0" cy="316777"/>
          </a:xfrm>
          <a:prstGeom prst="line">
            <a:avLst/>
          </a:prstGeom>
          <a:ln w="12700">
            <a:solidFill>
              <a:srgbClr val="646464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bject 5">
            <a:extLst>
              <a:ext uri="{FF2B5EF4-FFF2-40B4-BE49-F238E27FC236}">
                <a16:creationId xmlns:a16="http://schemas.microsoft.com/office/drawing/2014/main" id="{CDF40BB4-45C7-465F-3CB0-A6C55B62F238}"/>
              </a:ext>
            </a:extLst>
          </p:cNvPr>
          <p:cNvSpPr txBox="1"/>
          <p:nvPr/>
        </p:nvSpPr>
        <p:spPr>
          <a:xfrm>
            <a:off x="5391422" y="6256214"/>
            <a:ext cx="833971" cy="262251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en-US" sz="1600" spc="-10" dirty="0">
                <a:latin typeface="Avenir Book" panose="02000503020000020003" pitchFamily="2" charset="0"/>
                <a:cs typeface="Arial" panose="020B0604020202020204" pitchFamily="34" charset="0"/>
              </a:rPr>
              <a:t>samples</a:t>
            </a:r>
            <a:endParaRPr sz="16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sp>
        <p:nvSpPr>
          <p:cNvPr id="24" name="object 5">
            <a:extLst>
              <a:ext uri="{FF2B5EF4-FFF2-40B4-BE49-F238E27FC236}">
                <a16:creationId xmlns:a16="http://schemas.microsoft.com/office/drawing/2014/main" id="{88C62CC5-4D57-C3BA-6EBC-DE216F1ECE0E}"/>
              </a:ext>
            </a:extLst>
          </p:cNvPr>
          <p:cNvSpPr txBox="1"/>
          <p:nvPr/>
        </p:nvSpPr>
        <p:spPr>
          <a:xfrm>
            <a:off x="6280742" y="6267944"/>
            <a:ext cx="587682" cy="262251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en-US" sz="1600" spc="-10" dirty="0">
                <a:latin typeface="Avenir Book" panose="02000503020000020003" pitchFamily="2" charset="0"/>
                <a:cs typeface="Arial" panose="020B0604020202020204" pitchFamily="34" charset="0"/>
              </a:rPr>
              <a:t>time</a:t>
            </a:r>
            <a:endParaRPr sz="16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sp>
        <p:nvSpPr>
          <p:cNvPr id="28" name="object 5">
            <a:extLst>
              <a:ext uri="{FF2B5EF4-FFF2-40B4-BE49-F238E27FC236}">
                <a16:creationId xmlns:a16="http://schemas.microsoft.com/office/drawing/2014/main" id="{8677D3EE-61CF-954F-7A7B-3BD824AF90DC}"/>
              </a:ext>
            </a:extLst>
          </p:cNvPr>
          <p:cNvSpPr txBox="1"/>
          <p:nvPr/>
        </p:nvSpPr>
        <p:spPr>
          <a:xfrm>
            <a:off x="7122073" y="6258012"/>
            <a:ext cx="587682" cy="262251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en-US" sz="1600" spc="-10" dirty="0">
                <a:latin typeface="Avenir Book" panose="02000503020000020003" pitchFamily="2" charset="0"/>
                <a:cs typeface="Arial" panose="020B0604020202020204" pitchFamily="34" charset="0"/>
              </a:rPr>
              <a:t>SEIR</a:t>
            </a:r>
            <a:endParaRPr sz="16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5657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BBFD1-4991-6C18-D2D1-D51CA382F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B45A1875-B340-D9BA-3FEA-CB207E4ACAE9}"/>
              </a:ext>
            </a:extLst>
          </p:cNvPr>
          <p:cNvSpPr/>
          <p:nvPr/>
        </p:nvSpPr>
        <p:spPr>
          <a:xfrm>
            <a:off x="1211583" y="3264063"/>
            <a:ext cx="3233904" cy="2809192"/>
          </a:xfrm>
          <a:prstGeom prst="rect">
            <a:avLst/>
          </a:prstGeom>
          <a:solidFill>
            <a:srgbClr val="E1EF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E78764E-8251-7F65-45E9-A6E8CA94B4C3}"/>
              </a:ext>
            </a:extLst>
          </p:cNvPr>
          <p:cNvSpPr/>
          <p:nvPr/>
        </p:nvSpPr>
        <p:spPr>
          <a:xfrm>
            <a:off x="4459134" y="3264063"/>
            <a:ext cx="3463417" cy="2809192"/>
          </a:xfrm>
          <a:prstGeom prst="rect">
            <a:avLst/>
          </a:prstGeom>
          <a:solidFill>
            <a:srgbClr val="FBE4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0AAE75F-C1E9-6738-46BB-A9CEBB0628B8}"/>
              </a:ext>
            </a:extLst>
          </p:cNvPr>
          <p:cNvSpPr/>
          <p:nvPr/>
        </p:nvSpPr>
        <p:spPr>
          <a:xfrm>
            <a:off x="7930967" y="3264061"/>
            <a:ext cx="3066384" cy="2809193"/>
          </a:xfrm>
          <a:prstGeom prst="rect">
            <a:avLst/>
          </a:prstGeom>
          <a:solidFill>
            <a:srgbClr val="DAF2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967BCB-4C03-D0CA-B878-09AA28EE9B3D}"/>
              </a:ext>
            </a:extLst>
          </p:cNvPr>
          <p:cNvCxnSpPr/>
          <p:nvPr/>
        </p:nvCxnSpPr>
        <p:spPr>
          <a:xfrm>
            <a:off x="914400" y="1071563"/>
            <a:ext cx="10086975" cy="0"/>
          </a:xfrm>
          <a:prstGeom prst="line">
            <a:avLst/>
          </a:prstGeom>
          <a:ln w="22225">
            <a:solidFill>
              <a:srgbClr val="7F9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0D605EF-3480-23BB-B735-69ACC28EA675}"/>
              </a:ext>
            </a:extLst>
          </p:cNvPr>
          <p:cNvSpPr txBox="1"/>
          <p:nvPr/>
        </p:nvSpPr>
        <p:spPr>
          <a:xfrm>
            <a:off x="914399" y="494912"/>
            <a:ext cx="93297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venir Light" panose="020B0402020203020204" pitchFamily="34" charset="77"/>
              </a:rPr>
              <a:t>Tutorial: Surrogate Modeling in the Epidemic Regime</a:t>
            </a:r>
          </a:p>
        </p:txBody>
      </p:sp>
      <p:sp>
        <p:nvSpPr>
          <p:cNvPr id="1032" name="Slide Number Placeholder 1031">
            <a:extLst>
              <a:ext uri="{FF2B5EF4-FFF2-40B4-BE49-F238E27FC236}">
                <a16:creationId xmlns:a16="http://schemas.microsoft.com/office/drawing/2014/main" id="{F1925A6C-BD7A-AD48-A171-2634B4E5A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78B8C-3A5C-324B-A3F5-C0AF7DCE0B23}" type="slidenum">
              <a:rPr lang="en-US" smtClean="0"/>
              <a:t>14</a:t>
            </a:fld>
            <a:endParaRPr lang="en-US" dirty="0"/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5B99774E-3276-EA27-0A48-D18062CF8BA8}"/>
              </a:ext>
            </a:extLst>
          </p:cNvPr>
          <p:cNvSpPr txBox="1"/>
          <p:nvPr/>
        </p:nvSpPr>
        <p:spPr>
          <a:xfrm>
            <a:off x="1225231" y="1320748"/>
            <a:ext cx="9776143" cy="109209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25"/>
              </a:spcBef>
            </a:pPr>
            <a:r>
              <a:rPr lang="en-US" sz="1600" dirty="0">
                <a:latin typeface="Avenir Book" panose="02000503020000020003" pitchFamily="2" charset="0"/>
                <a:cs typeface="Arial" panose="020B0604020202020204" pitchFamily="34" charset="0"/>
              </a:rPr>
              <a:t>Our goal is to use this dataset to train a surrogate model, effectively distilling the dataset into a simple dynamics model. The surrogate allows for faster retrieval/interpolation for decision makers, while also providing an optimization framework for incorporating </a:t>
            </a:r>
            <a:r>
              <a:rPr lang="en-US" sz="1600" b="1" dirty="0">
                <a:latin typeface="Avenir Book" panose="02000503020000020003" pitchFamily="2" charset="0"/>
                <a:cs typeface="Arial" panose="020B0604020202020204" pitchFamily="34" charset="0"/>
              </a:rPr>
              <a:t>measured</a:t>
            </a:r>
            <a:r>
              <a:rPr lang="en-US" sz="1600" dirty="0">
                <a:latin typeface="Avenir Book" panose="02000503020000020003" pitchFamily="2" charset="0"/>
                <a:cs typeface="Arial" panose="020B0604020202020204" pitchFamily="34" charset="0"/>
              </a:rPr>
              <a:t> compartment data.</a:t>
            </a: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764FF30F-2620-5C6F-9469-3321C4E807CA}"/>
              </a:ext>
            </a:extLst>
          </p:cNvPr>
          <p:cNvSpPr txBox="1"/>
          <p:nvPr/>
        </p:nvSpPr>
        <p:spPr>
          <a:xfrm>
            <a:off x="1225231" y="2645788"/>
            <a:ext cx="9776143" cy="353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25"/>
              </a:spcBef>
            </a:pPr>
            <a:r>
              <a:rPr lang="en-US" sz="1600" dirty="0">
                <a:latin typeface="Avenir Book" panose="02000503020000020003" pitchFamily="2" charset="0"/>
                <a:cs typeface="Arial" panose="020B0604020202020204" pitchFamily="34" charset="0"/>
              </a:rPr>
              <a:t>We design a surrogate model that maps each initial condition to the sample’s full trajectory in time:</a:t>
            </a:r>
            <a:endParaRPr sz="16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2A9346B-B4AE-174D-FC3F-FDFA3D126787}"/>
              </a:ext>
            </a:extLst>
          </p:cNvPr>
          <p:cNvCxnSpPr>
            <a:cxnSpLocks/>
          </p:cNvCxnSpPr>
          <p:nvPr/>
        </p:nvCxnSpPr>
        <p:spPr>
          <a:xfrm>
            <a:off x="2612395" y="3629591"/>
            <a:ext cx="1343470" cy="0"/>
          </a:xfrm>
          <a:prstGeom prst="line">
            <a:avLst/>
          </a:prstGeom>
          <a:ln w="12700">
            <a:solidFill>
              <a:srgbClr val="646464"/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614B5A1-736F-6EF2-4711-F527A17591A5}"/>
              </a:ext>
            </a:extLst>
          </p:cNvPr>
          <p:cNvSpPr txBox="1"/>
          <p:nvPr/>
        </p:nvSpPr>
        <p:spPr>
          <a:xfrm>
            <a:off x="1916975" y="5300466"/>
            <a:ext cx="1729368" cy="661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20"/>
              </a:lnSpc>
            </a:pPr>
            <a:r>
              <a:rPr lang="en-US" sz="1400" dirty="0">
                <a:latin typeface="Avenir Book" panose="02000503020000020003" pitchFamily="2" charset="0"/>
              </a:rPr>
              <a:t>Initial Condition x</a:t>
            </a:r>
            <a:r>
              <a:rPr lang="en-US" sz="1400" baseline="-25000" dirty="0">
                <a:latin typeface="Avenir Book" panose="02000503020000020003" pitchFamily="2" charset="0"/>
              </a:rPr>
              <a:t>0</a:t>
            </a:r>
            <a:r>
              <a:rPr lang="en-US" sz="1400" dirty="0">
                <a:latin typeface="Avenir Book" panose="02000503020000020003" pitchFamily="2" charset="0"/>
              </a:rPr>
              <a:t>:</a:t>
            </a:r>
          </a:p>
          <a:p>
            <a:pPr algn="ctr">
              <a:lnSpc>
                <a:spcPts val="2320"/>
              </a:lnSpc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[batch, 1, 4]</a:t>
            </a:r>
          </a:p>
        </p:txBody>
      </p:sp>
      <p:pic>
        <p:nvPicPr>
          <p:cNvPr id="18" name="Picture 17" descr="A comparison of graphs with different colored lines&#10;&#10;AI-generated content may be incorrect.">
            <a:extLst>
              <a:ext uri="{FF2B5EF4-FFF2-40B4-BE49-F238E27FC236}">
                <a16:creationId xmlns:a16="http://schemas.microsoft.com/office/drawing/2014/main" id="{12851502-3A96-5283-8C8C-A6461EF0C0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021" t="6479" b="10125"/>
          <a:stretch>
            <a:fillRect/>
          </a:stretch>
        </p:blipFill>
        <p:spPr>
          <a:xfrm>
            <a:off x="2317487" y="4391654"/>
            <a:ext cx="936714" cy="908812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5A4AA5A4-6730-BEEC-85FC-56040BCA41B4}"/>
              </a:ext>
            </a:extLst>
          </p:cNvPr>
          <p:cNvSpPr/>
          <p:nvPr/>
        </p:nvSpPr>
        <p:spPr>
          <a:xfrm>
            <a:off x="2348710" y="4405650"/>
            <a:ext cx="99977" cy="999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58A5DE-1526-AC4E-D695-3E781EFE3474}"/>
              </a:ext>
            </a:extLst>
          </p:cNvPr>
          <p:cNvSpPr txBox="1"/>
          <p:nvPr/>
        </p:nvSpPr>
        <p:spPr>
          <a:xfrm>
            <a:off x="2620348" y="4810494"/>
            <a:ext cx="5220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venir Book" panose="02000503020000020003" pitchFamily="2" charset="0"/>
              </a:rPr>
              <a:t>x</a:t>
            </a:r>
            <a:r>
              <a:rPr lang="en-US" sz="1200" baseline="-25000" dirty="0">
                <a:latin typeface="Avenir Book" panose="02000503020000020003" pitchFamily="2" charset="0"/>
              </a:rPr>
              <a:t>0</a:t>
            </a:r>
            <a:endParaRPr lang="en-US" sz="1200" baseline="-2500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2DA431A-ED1C-1DD1-7B4E-DBFB519699FB}"/>
              </a:ext>
            </a:extLst>
          </p:cNvPr>
          <p:cNvCxnSpPr/>
          <p:nvPr/>
        </p:nvCxnSpPr>
        <p:spPr>
          <a:xfrm flipH="1" flipV="1">
            <a:off x="2474627" y="4540871"/>
            <a:ext cx="238981" cy="305189"/>
          </a:xfrm>
          <a:prstGeom prst="line">
            <a:avLst/>
          </a:prstGeom>
          <a:ln w="127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3FFBAF3-EA55-4500-EC96-ECB03DFB2E26}"/>
              </a:ext>
            </a:extLst>
          </p:cNvPr>
          <p:cNvCxnSpPr>
            <a:cxnSpLocks/>
          </p:cNvCxnSpPr>
          <p:nvPr/>
        </p:nvCxnSpPr>
        <p:spPr>
          <a:xfrm>
            <a:off x="3142401" y="4769030"/>
            <a:ext cx="799706" cy="0"/>
          </a:xfrm>
          <a:prstGeom prst="line">
            <a:avLst/>
          </a:prstGeom>
          <a:ln w="12700">
            <a:solidFill>
              <a:srgbClr val="646464"/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D0D93E3-3BCF-297A-E60C-BA8EF68D0595}"/>
              </a:ext>
            </a:extLst>
          </p:cNvPr>
          <p:cNvCxnSpPr>
            <a:cxnSpLocks/>
          </p:cNvCxnSpPr>
          <p:nvPr/>
        </p:nvCxnSpPr>
        <p:spPr>
          <a:xfrm>
            <a:off x="3942107" y="3624593"/>
            <a:ext cx="0" cy="1146311"/>
          </a:xfrm>
          <a:prstGeom prst="line">
            <a:avLst/>
          </a:prstGeom>
          <a:ln w="12700">
            <a:solidFill>
              <a:srgbClr val="646464"/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98538B34-1288-2647-3020-2CC1F4C3C158}"/>
              </a:ext>
            </a:extLst>
          </p:cNvPr>
          <p:cNvSpPr/>
          <p:nvPr/>
        </p:nvSpPr>
        <p:spPr>
          <a:xfrm>
            <a:off x="3835858" y="4074548"/>
            <a:ext cx="212498" cy="212498"/>
          </a:xfrm>
          <a:prstGeom prst="ellipse">
            <a:avLst/>
          </a:prstGeom>
          <a:solidFill>
            <a:schemeClr val="bg1"/>
          </a:solidFill>
          <a:ln w="12700">
            <a:solidFill>
              <a:srgbClr val="6464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59943A6-0BD2-3E4C-EFE8-E7C080EB7D21}"/>
                  </a:ext>
                </a:extLst>
              </p:cNvPr>
              <p:cNvSpPr txBox="1"/>
              <p:nvPr/>
            </p:nvSpPr>
            <p:spPr>
              <a:xfrm>
                <a:off x="2348710" y="3493174"/>
                <a:ext cx="925358" cy="33855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646464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1600" dirty="0">
                    <a:latin typeface="Avenir Book" panose="02000503020000020003" pitchFamily="2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1600" dirty="0">
                    <a:latin typeface="Avenir Book" panose="02000503020000020003" pitchFamily="2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59943A6-0BD2-3E4C-EFE8-E7C080EB7D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8710" y="3493174"/>
                <a:ext cx="925358" cy="338554"/>
              </a:xfrm>
              <a:prstGeom prst="rect">
                <a:avLst/>
              </a:prstGeom>
              <a:blipFill>
                <a:blip r:embed="rId4"/>
                <a:stretch>
                  <a:fillRect b="-20690"/>
                </a:stretch>
              </a:blipFill>
              <a:ln w="12700">
                <a:solidFill>
                  <a:srgbClr val="64646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53BB7256-EE43-F34B-907D-4875E4263DE3}"/>
              </a:ext>
            </a:extLst>
          </p:cNvPr>
          <p:cNvSpPr txBox="1"/>
          <p:nvPr/>
        </p:nvSpPr>
        <p:spPr>
          <a:xfrm>
            <a:off x="1916975" y="3813206"/>
            <a:ext cx="1672224" cy="36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20"/>
              </a:lnSpc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[batch, 3]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20762AB-4714-3024-EC09-8C4B85900805}"/>
              </a:ext>
            </a:extLst>
          </p:cNvPr>
          <p:cNvGrpSpPr/>
          <p:nvPr/>
        </p:nvGrpSpPr>
        <p:grpSpPr>
          <a:xfrm>
            <a:off x="4735867" y="3624593"/>
            <a:ext cx="3006376" cy="1131910"/>
            <a:chOff x="4456286" y="4394432"/>
            <a:chExt cx="3006376" cy="1131910"/>
          </a:xfrm>
        </p:grpSpPr>
        <p:sp>
          <p:nvSpPr>
            <p:cNvPr id="36" name="object 32">
              <a:extLst>
                <a:ext uri="{FF2B5EF4-FFF2-40B4-BE49-F238E27FC236}">
                  <a16:creationId xmlns:a16="http://schemas.microsoft.com/office/drawing/2014/main" id="{8D8EEC9A-E8AB-2DB1-557F-BAAC94E84898}"/>
                </a:ext>
              </a:extLst>
            </p:cNvPr>
            <p:cNvSpPr/>
            <p:nvPr/>
          </p:nvSpPr>
          <p:spPr>
            <a:xfrm>
              <a:off x="4456286" y="4394432"/>
              <a:ext cx="3006376" cy="1131910"/>
            </a:xfrm>
            <a:custGeom>
              <a:avLst/>
              <a:gdLst/>
              <a:ahLst/>
              <a:cxnLst/>
              <a:rect l="l" t="t" r="r" b="b"/>
              <a:pathLst>
                <a:path w="2800350" h="1581150">
                  <a:moveTo>
                    <a:pt x="0" y="1581150"/>
                  </a:moveTo>
                  <a:lnTo>
                    <a:pt x="2800350" y="1581150"/>
                  </a:lnTo>
                  <a:lnTo>
                    <a:pt x="2800350" y="0"/>
                  </a:lnTo>
                  <a:lnTo>
                    <a:pt x="0" y="0"/>
                  </a:lnTo>
                  <a:lnTo>
                    <a:pt x="0" y="158115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7" name="object 31">
              <a:extLst>
                <a:ext uri="{FF2B5EF4-FFF2-40B4-BE49-F238E27FC236}">
                  <a16:creationId xmlns:a16="http://schemas.microsoft.com/office/drawing/2014/main" id="{76190296-0C12-E721-67CA-CC93A04A772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89460" y="4554242"/>
              <a:ext cx="1966412" cy="817473"/>
            </a:xfrm>
            <a:prstGeom prst="rect">
              <a:avLst/>
            </a:prstGeom>
          </p:spPr>
        </p:pic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333ED05-7BCF-8216-3144-9A81D1EF1834}"/>
              </a:ext>
            </a:extLst>
          </p:cNvPr>
          <p:cNvCxnSpPr>
            <a:cxnSpLocks/>
            <a:stCxn id="27" idx="6"/>
          </p:cNvCxnSpPr>
          <p:nvPr/>
        </p:nvCxnSpPr>
        <p:spPr>
          <a:xfrm>
            <a:off x="4048356" y="4180797"/>
            <a:ext cx="687511" cy="0"/>
          </a:xfrm>
          <a:prstGeom prst="line">
            <a:avLst/>
          </a:prstGeom>
          <a:ln w="12700">
            <a:solidFill>
              <a:srgbClr val="646464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BA0929D-386F-F6DB-530A-D8E2728F29F8}"/>
              </a:ext>
            </a:extLst>
          </p:cNvPr>
          <p:cNvCxnSpPr>
            <a:cxnSpLocks/>
          </p:cNvCxnSpPr>
          <p:nvPr/>
        </p:nvCxnSpPr>
        <p:spPr>
          <a:xfrm>
            <a:off x="7742243" y="4180614"/>
            <a:ext cx="494998" cy="0"/>
          </a:xfrm>
          <a:prstGeom prst="line">
            <a:avLst/>
          </a:prstGeom>
          <a:ln w="12700">
            <a:solidFill>
              <a:srgbClr val="646464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604DF108-0C6D-802A-8851-4C4C5CC6E08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2364" t="12616" r="70594" b="10407"/>
          <a:stretch>
            <a:fillRect/>
          </a:stretch>
        </p:blipFill>
        <p:spPr>
          <a:xfrm>
            <a:off x="8363794" y="3391766"/>
            <a:ext cx="914087" cy="825738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F8EAAE44-AA72-8A85-4219-801490C698A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2413" t="10418" r="50000" b="9963"/>
          <a:stretch>
            <a:fillRect/>
          </a:stretch>
        </p:blipFill>
        <p:spPr>
          <a:xfrm>
            <a:off x="9447860" y="3364050"/>
            <a:ext cx="943251" cy="854077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6878E4B3-8BD5-47F8-293C-59EACE36258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2521" t="10842" r="30011" b="10897"/>
          <a:stretch>
            <a:fillRect/>
          </a:stretch>
        </p:blipFill>
        <p:spPr>
          <a:xfrm>
            <a:off x="8363794" y="4338972"/>
            <a:ext cx="936894" cy="839512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A009B06E-F651-7292-8B75-0E272F22337E}"/>
              </a:ext>
            </a:extLst>
          </p:cNvPr>
          <p:cNvSpPr txBox="1"/>
          <p:nvPr/>
        </p:nvSpPr>
        <p:spPr>
          <a:xfrm>
            <a:off x="8534777" y="5299952"/>
            <a:ext cx="1977535" cy="662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20"/>
              </a:lnSpc>
            </a:pPr>
            <a:r>
              <a:rPr lang="en-US" sz="1400" dirty="0">
                <a:latin typeface="Avenir Book" panose="02000503020000020003" pitchFamily="2" charset="0"/>
              </a:rPr>
              <a:t>Output trajectory, </a:t>
            </a:r>
            <a:r>
              <a:rPr lang="en-US" sz="1400" dirty="0" err="1">
                <a:latin typeface="Avenir Book" panose="02000503020000020003" pitchFamily="2" charset="0"/>
              </a:rPr>
              <a:t>x</a:t>
            </a:r>
            <a:r>
              <a:rPr lang="en-US" sz="1400" baseline="-25000" dirty="0" err="1">
                <a:latin typeface="Avenir Book" panose="02000503020000020003" pitchFamily="2" charset="0"/>
              </a:rPr>
              <a:t>t</a:t>
            </a:r>
            <a:r>
              <a:rPr lang="en-US" sz="1400" dirty="0">
                <a:latin typeface="Avenir Book" panose="02000503020000020003" pitchFamily="2" charset="0"/>
              </a:rPr>
              <a:t>:</a:t>
            </a:r>
            <a:endParaRPr lang="en-US" sz="1400" baseline="-25000" dirty="0">
              <a:latin typeface="Avenir Book" panose="02000503020000020003" pitchFamily="2" charset="0"/>
            </a:endParaRPr>
          </a:p>
          <a:p>
            <a:pPr algn="ctr">
              <a:lnSpc>
                <a:spcPts val="2320"/>
              </a:lnSpc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[batch, 500, 4]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B34527E8-8E44-A0B5-0F48-16CBEFDA6ED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2959" t="10202" r="9574" b="10180"/>
          <a:stretch>
            <a:fillRect/>
          </a:stretch>
        </p:blipFill>
        <p:spPr>
          <a:xfrm>
            <a:off x="9456077" y="4332001"/>
            <a:ext cx="936894" cy="854077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FAB9027C-A925-358E-62BD-8624F0926750}"/>
              </a:ext>
            </a:extLst>
          </p:cNvPr>
          <p:cNvSpPr txBox="1"/>
          <p:nvPr/>
        </p:nvSpPr>
        <p:spPr>
          <a:xfrm>
            <a:off x="5296992" y="4769030"/>
            <a:ext cx="1729368" cy="36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20"/>
              </a:lnSpc>
            </a:pPr>
            <a:r>
              <a:rPr lang="en-US" sz="1400" dirty="0">
                <a:latin typeface="Avenir Book" panose="02000503020000020003" pitchFamily="2" charset="0"/>
              </a:rPr>
              <a:t>Neural network </a:t>
            </a:r>
            <a:r>
              <a:rPr lang="en-US" sz="1400" i="1" dirty="0">
                <a:latin typeface="Avenir Book" panose="02000503020000020003" pitchFamily="2" charset="0"/>
              </a:rPr>
              <a:t>f</a:t>
            </a:r>
            <a:endParaRPr lang="en-US" sz="14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F948ECE-9CAE-4D0C-9544-5D952443868E}"/>
              </a:ext>
            </a:extLst>
          </p:cNvPr>
          <p:cNvSpPr txBox="1"/>
          <p:nvPr/>
        </p:nvSpPr>
        <p:spPr>
          <a:xfrm>
            <a:off x="4450718" y="5313759"/>
            <a:ext cx="3463416" cy="662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20"/>
              </a:lnSpc>
            </a:pPr>
            <a:r>
              <a:rPr lang="en-US" sz="1400" dirty="0">
                <a:latin typeface="Avenir Book" panose="02000503020000020003" pitchFamily="2" charset="0"/>
              </a:rPr>
              <a:t>Our architecture:</a:t>
            </a:r>
          </a:p>
          <a:p>
            <a:pPr algn="ctr">
              <a:lnSpc>
                <a:spcPts val="2320"/>
              </a:lnSpc>
            </a:pPr>
            <a:r>
              <a:rPr lang="en-US" sz="1400" dirty="0">
                <a:latin typeface="Avenir Book" panose="02000503020000020003" pitchFamily="2" charset="0"/>
                <a:cs typeface="Courier New" panose="02070309020205020404" pitchFamily="49" charset="0"/>
              </a:rPr>
              <a:t>Inputs -&gt; MLP -&gt; POD Coefficients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8008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57725</TotalTime>
  <Words>1136</Words>
  <Application>Microsoft Macintosh PowerPoint</Application>
  <PresentationFormat>Widescreen</PresentationFormat>
  <Paragraphs>170</Paragraphs>
  <Slides>14</Slides>
  <Notes>14</Notes>
  <HiddenSlides>0</HiddenSlides>
  <MMClips>4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Aptos Display</vt:lpstr>
      <vt:lpstr>Arial</vt:lpstr>
      <vt:lpstr>Avenir Book</vt:lpstr>
      <vt:lpstr>Avenir Light</vt:lpstr>
      <vt:lpstr>Cambria Math</vt:lpstr>
      <vt:lpstr>Courier New</vt:lpstr>
      <vt:lpstr>Office Theme</vt:lpstr>
      <vt:lpstr>Can AI Learn Dynamics? Surrogate Modeling on TACC Systems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Smith Luke (lrs3624)</dc:creator>
  <cp:lastModifiedBy>Smith, Luke</cp:lastModifiedBy>
  <cp:revision>316</cp:revision>
  <dcterms:created xsi:type="dcterms:W3CDTF">2024-11-19T22:07:39Z</dcterms:created>
  <dcterms:modified xsi:type="dcterms:W3CDTF">2026-09-14T14:47:57Z</dcterms:modified>
</cp:coreProperties>
</file>